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59" r:id="rId3"/>
    <p:sldId id="560" r:id="rId4"/>
    <p:sldId id="561" r:id="rId5"/>
    <p:sldId id="573" r:id="rId6"/>
    <p:sldId id="581" r:id="rId7"/>
    <p:sldId id="582" r:id="rId8"/>
    <p:sldId id="566" r:id="rId9"/>
    <p:sldId id="569" r:id="rId10"/>
    <p:sldId id="571" r:id="rId11"/>
    <p:sldId id="570" r:id="rId12"/>
  </p:sldIdLst>
  <p:sldSz cx="9144000" cy="6858000" type="screen4x3"/>
  <p:notesSz cx="6858000" cy="9144000"/>
  <p:custDataLst>
    <p:tags r:id="rId17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3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中国" initials="微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2" d="100"/>
          <a:sy n="72" d="100"/>
        </p:scale>
        <p:origin x="-1104" y="-102"/>
      </p:cViewPr>
      <p:guideLst>
        <p:guide orient="horz" pos="2167"/>
        <p:guide pos="28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wmf"/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050" name="任意多边形 5126"/>
          <p:cNvSpPr/>
          <p:nvPr/>
        </p:nvSpPr>
        <p:spPr>
          <a:xfrm>
            <a:off x="611188" y="1339850"/>
            <a:ext cx="7772400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5122" name="标题 5121"/>
          <p:cNvSpPr>
            <a:spLocks noGrp="1"/>
          </p:cNvSpPr>
          <p:nvPr>
            <p:ph type="ctrTitle"/>
          </p:nvPr>
        </p:nvSpPr>
        <p:spPr>
          <a:xfrm>
            <a:off x="467995" y="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>
              <a:buClrTx/>
              <a:buSzTx/>
              <a:buFontTx/>
              <a:defRPr sz="4000"/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5123" name="副标题 5122"/>
          <p:cNvSpPr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1pPr>
            <a:lvl2pPr marL="457200" lvl="1" indent="14605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2pPr>
            <a:lvl3pPr marL="909955" lvl="2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3pPr>
            <a:lvl4pPr marL="1306830" lvl="3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4pPr>
            <a:lvl5pPr marL="1695450" lvl="4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5124" name="日期占位符 5123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125" name="页脚占位符 5124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endParaRPr lang="zh-CN" altLang="en-US" strike="noStrike" noProof="1" dirty="0"/>
          </a:p>
        </p:txBody>
      </p:sp>
      <p:sp>
        <p:nvSpPr>
          <p:cNvPr id="5126" name="灯片编号占位符 5125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605" y="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304800"/>
            <a:ext cx="2002234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90631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29150" y="1825625"/>
            <a:ext cx="38862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29150" y="4076700"/>
            <a:ext cx="38862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81000" y="284163"/>
            <a:ext cx="8382000" cy="5888037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1026" name="文本占位符 4098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7" name="任意多边形 4099"/>
          <p:cNvSpPr/>
          <p:nvPr userDrawn="1"/>
        </p:nvSpPr>
        <p:spPr>
          <a:xfrm>
            <a:off x="587375" y="1123950"/>
            <a:ext cx="7958138" cy="109538"/>
          </a:xfrm>
          <a:custGeom>
            <a:avLst/>
            <a:gdLst/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028" name="直接连接符 4100"/>
          <p:cNvSpPr/>
          <p:nvPr userDrawn="1"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102" name="日期占位符 4101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4103" name="页脚占位符 4102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endParaRPr lang="zh-CN" altLang="en-US" strike="noStrike" noProof="1" dirty="0"/>
          </a:p>
        </p:txBody>
      </p:sp>
      <p:sp>
        <p:nvSpPr>
          <p:cNvPr id="4104" name="灯片编号占位符 4103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20204" pitchFamily="34" charset="0"/>
            </a:endParaRPr>
          </a:p>
        </p:txBody>
      </p:sp>
      <p:pic>
        <p:nvPicPr>
          <p:cNvPr id="1032" name="图片 2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669213" y="115888"/>
            <a:ext cx="1258887" cy="4064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5.w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2049"/>
          <p:cNvSpPr>
            <a:spLocks noGrp="1"/>
          </p:cNvSpPr>
          <p:nvPr/>
        </p:nvSpPr>
        <p:spPr>
          <a:xfrm>
            <a:off x="2267585" y="4268470"/>
            <a:ext cx="5288915" cy="1470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40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 fontAlgn="base">
              <a:buSzTx/>
              <a:buFontTx/>
              <a:buNone/>
            </a:pPr>
            <a:r>
              <a:rPr lang="zh-CN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实验二</a:t>
            </a:r>
            <a:r>
              <a:rPr lang="en-US" altLang="zh-CN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strike="noStrike" noProof="1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图像的变换</a:t>
            </a:r>
            <a:endParaRPr lang="zh-CN" altLang="en-US" b="1" strike="noStrike" kern="1200" baseline="0" noProof="1">
              <a:solidFill>
                <a:schemeClr val="folHlink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7170" name="图片 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08050"/>
            <a:ext cx="9144000" cy="27892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 spd="slow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11969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、实验目的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5607" name="Rectangle 7"/>
          <p:cNvSpPr/>
          <p:nvPr/>
        </p:nvSpPr>
        <p:spPr>
          <a:xfrm>
            <a:off x="179705" y="1701165"/>
            <a:ext cx="888047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熟悉并掌握图像几何变换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掌握离散傅立叶变换和离散余弦变换的实现方法，了解DFT、DCT的幅度分布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3.应用MATLAB（Python）语言对二维图像进行FFT及逆变换；掌握傅立叶变换的应用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4．巩固离散余弦变换理论，应用MATLAB（Python）语言对图像进行离散余弦变换，掌握离散余弦变换在JPEG编码中的应用</a:t>
            </a:r>
            <a:r>
              <a:rPr lang="zh-CN"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sz="2400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5． 加深对频域变换的认识。 </a:t>
            </a:r>
            <a:endParaRPr sz="2400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412875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219" name="矩形 8"/>
          <p:cNvSpPr/>
          <p:nvPr/>
        </p:nvSpPr>
        <p:spPr>
          <a:xfrm>
            <a:off x="539750" y="198850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、图像几何变换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20" name="文本框 38918"/>
          <p:cNvSpPr txBox="1"/>
          <p:nvPr/>
        </p:nvSpPr>
        <p:spPr>
          <a:xfrm>
            <a:off x="609918" y="2449195"/>
            <a:ext cx="7923212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图像几何变换的一般表达式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：</a:t>
            </a:r>
            <a:endParaRPr 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3895" y="3644900"/>
            <a:ext cx="7874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u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v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]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为变换后图像像素的笛卡尔坐标，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[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x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宋体" panose="02010600030101010101" pitchFamily="2" charset="-122"/>
              </a:rPr>
              <a:t>y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]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为原始图像中像素的笛卡尔坐标，这样就得到了原始图像与变换后图像的像素的对应关系。图像的空间平移、比例缩放、旋转、仿射变换和图像插值等都是常见的图像几何变换。 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2772" name="对象 201731"/>
          <p:cNvGraphicFramePr/>
          <p:nvPr/>
        </p:nvGraphicFramePr>
        <p:xfrm>
          <a:off x="2555875" y="3284855"/>
          <a:ext cx="3676015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82700" imgH="190500" progId="Equation.DSMT4">
                  <p:embed/>
                </p:oleObj>
              </mc:Choice>
              <mc:Fallback>
                <p:oleObj name="" r:id="rId1" imgW="1282700" imgH="1905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55875" y="3284855"/>
                        <a:ext cx="3676015" cy="4210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char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341438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43" name="矩形 8"/>
          <p:cNvSpPr/>
          <p:nvPr/>
        </p:nvSpPr>
        <p:spPr>
          <a:xfrm>
            <a:off x="539750" y="2020253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、正交变换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4" name="文本框 38918"/>
          <p:cNvSpPr txBox="1"/>
          <p:nvPr/>
        </p:nvSpPr>
        <p:spPr>
          <a:xfrm>
            <a:off x="611505" y="3141345"/>
            <a:ext cx="789940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散傅立叶变换（DFT）在数字信号处理和数字图像处理中应用十分广泛。使用离散傅立叶变换的根本原因有二：一是DFT的输入、输出均为离散形式的，这使得计算机非常容易操作；二是因为计算DFT存在快速算法，即快速傅立叶变换（FFT），因而计算比较方便。</a:t>
            </a:r>
            <a:endParaRPr 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75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2637155"/>
            <a:ext cx="28295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离散傅立叶变换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268413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43" name="矩形 8"/>
          <p:cNvSpPr/>
          <p:nvPr/>
        </p:nvSpPr>
        <p:spPr>
          <a:xfrm>
            <a:off x="539750" y="1844358"/>
            <a:ext cx="7040563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2.2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、正交变换 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4" name="文本框 38918"/>
          <p:cNvSpPr txBox="1"/>
          <p:nvPr/>
        </p:nvSpPr>
        <p:spPr>
          <a:xfrm>
            <a:off x="611505" y="2708910"/>
            <a:ext cx="789940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在数字图像处理中， 令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(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 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表示一幅大小为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×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的图像， 其中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=0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-1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和其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=0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-1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。其离散傅立叶变换对为：</a:t>
            </a:r>
            <a:endParaRPr 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1505" y="2348865"/>
            <a:ext cx="28295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离散傅立叶变换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0180" name="对象 219169"/>
          <p:cNvGraphicFramePr/>
          <p:nvPr/>
        </p:nvGraphicFramePr>
        <p:xfrm>
          <a:off x="1187450" y="4364673"/>
          <a:ext cx="4289425" cy="174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1" imgW="2019300" imgH="850900" progId="Equation.DSMT4">
                  <p:embed/>
                </p:oleObj>
              </mc:Choice>
              <mc:Fallback>
                <p:oleObj name="" r:id="rId1" imgW="2019300" imgH="850900" progId="Equation.DSMT4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87450" y="4364673"/>
                        <a:ext cx="4289425" cy="17446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2" name="对象 219173"/>
          <p:cNvGraphicFramePr/>
          <p:nvPr/>
        </p:nvGraphicFramePr>
        <p:xfrm>
          <a:off x="5580063" y="5013325"/>
          <a:ext cx="2581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3" imgW="1078865" imgH="165100" progId="Equation.DSMT4">
                  <p:embed/>
                </p:oleObj>
              </mc:Choice>
              <mc:Fallback>
                <p:oleObj name="" r:id="rId3" imgW="1078865" imgH="165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0063" y="5013325"/>
                        <a:ext cx="2581275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268413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、实验原理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44" name="文本框 38918"/>
          <p:cNvSpPr txBox="1"/>
          <p:nvPr/>
        </p:nvSpPr>
        <p:spPr>
          <a:xfrm>
            <a:off x="65405" y="2268855"/>
            <a:ext cx="9012555" cy="17532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在数字图像处理中， 令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f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(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x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， 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y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) 表示一幅大小为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×</a:t>
            </a:r>
            <a:r>
              <a:rPr lang="zh-CN" sz="2400" i="1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N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 的图像， 其中 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=0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-1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和其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y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=0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…</a:t>
            </a:r>
            <a:r>
              <a:rPr lang="zh-CN" altLang="en-US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微软雅黑" panose="020B0503020204020204" charset="-122"/>
                <a:sym typeface="+mn-ea"/>
              </a:rPr>
              <a:t>-1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。其离散余弦变换对为：</a:t>
            </a:r>
            <a:endParaRPr 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3075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1799590"/>
            <a:ext cx="28295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离散余弦变换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0182" name="对象 219173"/>
          <p:cNvGraphicFramePr/>
          <p:nvPr/>
        </p:nvGraphicFramePr>
        <p:xfrm>
          <a:off x="787718" y="5471160"/>
          <a:ext cx="258127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1" imgW="1078865" imgH="165100" progId="Equation.DSMT4">
                  <p:embed/>
                </p:oleObj>
              </mc:Choice>
              <mc:Fallback>
                <p:oleObj name="" r:id="rId1" imgW="1078865" imgH="1651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7718" y="5471160"/>
                        <a:ext cx="2581275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48" name="对象 237652"/>
          <p:cNvGraphicFramePr/>
          <p:nvPr/>
        </p:nvGraphicFramePr>
        <p:xfrm>
          <a:off x="1259205" y="3644900"/>
          <a:ext cx="670242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3822700" imgH="431800" progId="Equation.3">
                  <p:embed/>
                </p:oleObj>
              </mc:Choice>
              <mc:Fallback>
                <p:oleObj name="" r:id="rId3" imgW="3822700" imgH="431800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9205" y="3644900"/>
                        <a:ext cx="6702425" cy="750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2" name="对象 237654"/>
          <p:cNvGraphicFramePr/>
          <p:nvPr/>
        </p:nvGraphicFramePr>
        <p:xfrm>
          <a:off x="1259205" y="4364673"/>
          <a:ext cx="6702425" cy="763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5" imgW="3759200" imgH="431800" progId="Equation.3">
                  <p:embed/>
                </p:oleObj>
              </mc:Choice>
              <mc:Fallback>
                <p:oleObj name="" r:id="rId5" imgW="3759200" imgH="431800" progId="Equation.3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59205" y="4364673"/>
                        <a:ext cx="6702425" cy="763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975" name="对象 237658"/>
          <p:cNvGraphicFramePr/>
          <p:nvPr/>
        </p:nvGraphicFramePr>
        <p:xfrm>
          <a:off x="3779838" y="5085080"/>
          <a:ext cx="4953000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7" imgW="2679700" imgH="558800" progId="Equation.3">
                  <p:embed/>
                </p:oleObj>
              </mc:Choice>
              <mc:Fallback>
                <p:oleObj name="" r:id="rId7" imgW="2679700" imgH="558800" progId="Equation.3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79838" y="5085080"/>
                        <a:ext cx="4953000" cy="104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5" name="矩形 33794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341438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、实验内容</a:t>
            </a:r>
            <a:endParaRPr kumimoji="0" lang="zh-CN" altLang="en-US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395605" y="2348865"/>
            <a:ext cx="8180070" cy="3091180"/>
          </a:xfrm>
        </p:spPr>
        <p:txBody>
          <a:bodyPr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．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根据图像变换处理的方法和流程，利用</a:t>
            </a:r>
            <a:r>
              <a:rPr lang="en-US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Matlab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（Python）编写图像几何变换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（平移、剪切、缩放、旋转、镜像）</a:t>
            </a:r>
            <a:r>
              <a:rPr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、离散傅立叶变换或离散余弦变换处理的程序 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；</a:t>
            </a:r>
            <a:endParaRPr 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．对实验一的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bmp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图像，用所编程序对给定图像进行操作，对图像处理后另存为</a:t>
            </a:r>
            <a:r>
              <a:rPr lang="zh-CN" sz="2400" dirty="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（*.bmp）文件；</a:t>
            </a:r>
            <a:endParaRPr lang="zh-CN" sz="2400" dirty="0"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9750" y="1341438"/>
            <a:ext cx="21799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、报告要求</a:t>
            </a:r>
            <a:endParaRPr kumimoji="0" lang="zh-CN" altLang="en-US" sz="2000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39" name="文本框 38918"/>
          <p:cNvSpPr txBox="1"/>
          <p:nvPr/>
        </p:nvSpPr>
        <p:spPr>
          <a:xfrm>
            <a:off x="683578" y="2277110"/>
            <a:ext cx="7905750" cy="3192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4.1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阐明实验的目的、原理和内容；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打印主要程序并粘贴在实验报告中；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打印实验结果并粘贴在实验报告中；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4.4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针对实验结果加以分析和总结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1505" y="1700848"/>
            <a:ext cx="182435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algn="l" defTabSz="914400">
              <a:buClrTx/>
              <a:buSzTx/>
              <a:buFontTx/>
              <a:buNone/>
              <a:defRPr/>
            </a:pPr>
            <a:r>
              <a:rPr kumimoji="0" lang="en-US" altLang="zh-CN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0" lang="zh-CN" altLang="en-US" b="1" kern="1200" cap="none" spc="0" normalizeH="0" baseline="0" noProof="0" dirty="0">
                <a:solidFill>
                  <a:srgbClr val="FF0066"/>
                </a:solidFill>
                <a:effectLst>
                  <a:outerShdw blurRad="50800" dir="54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、思考题</a:t>
            </a:r>
            <a:endParaRPr kumimoji="0" lang="zh-CN" altLang="en-US" sz="2000" b="1" kern="1200" cap="none" spc="0" normalizeH="0" baseline="0" noProof="0" dirty="0">
              <a:solidFill>
                <a:srgbClr val="FF0066"/>
              </a:solidFill>
              <a:effectLst>
                <a:outerShdw blurRad="50800" dir="54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339" name="文本框 38918"/>
          <p:cNvSpPr txBox="1"/>
          <p:nvPr/>
        </p:nvSpPr>
        <p:spPr>
          <a:xfrm>
            <a:off x="683578" y="2951480"/>
            <a:ext cx="7905750" cy="1863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5.1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图像的几何变换由在什么场合上发挥优势？ 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5.2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图像正交变换的特点及变换后图像频谱的分布情况，离散余弦变换在图像压缩中的应用？  </a:t>
            </a:r>
            <a:endParaRPr lang="zh-CN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0230" y="476885"/>
            <a:ext cx="828484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实验二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图像的变换</a:t>
            </a:r>
            <a:endParaRPr kumimoji="0" lang="zh-CN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文本框 38918"/>
          <p:cNvSpPr txBox="1"/>
          <p:nvPr/>
        </p:nvSpPr>
        <p:spPr>
          <a:xfrm>
            <a:off x="611505" y="1196658"/>
            <a:ext cx="7905750" cy="50736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 = [1 0.5 0; 0 1 0; 0 0 1];%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定义几何变换模版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tform = affinetform2d(A);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 = imwarp(A,tform)；%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几何变换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 = imresize(A, scale)；%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scale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倍缩放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 = imrotate(A,angle)；%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angle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度旋转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B=flip(A,1)；%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进行水平镜像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B=flip(A,2)；%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进行垂直镜像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A=im2double(A);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%</a:t>
            </a:r>
            <a:r>
              <a:rPr lang="zh-CN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转换数据类型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B=fft2(A)；%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进行二维快速傅里叶变换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B=fftshift(B);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平移到中心点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B=abs(B);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取复数的模</a:t>
            </a:r>
            <a:endParaRPr lang="en-US" alt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imshow(B,[]);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显示傅里叶变换结果，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[]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表示自动调节灰度范围为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0-255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A=ifft2(B);%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进行二维快速傅里叶逆变换</a:t>
            </a:r>
            <a:endParaRPr lang="zh-CN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B=dct2(A)；%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进行二维离散余弦变换</a:t>
            </a:r>
            <a:endParaRPr lang="zh-CN" altLang="en-US" sz="1800" dirty="0"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A=idct2(B);%</a:t>
            </a:r>
            <a:r>
              <a:rPr 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对</a:t>
            </a:r>
            <a:r>
              <a:rPr lang="en-US" altLang="zh-CN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B</a:t>
            </a:r>
            <a:r>
              <a:rPr lang="zh-CN" altLang="en-US" sz="1800" dirty="0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进行二维离散余弦逆变换</a:t>
            </a:r>
            <a:endParaRPr lang="zh-CN" sz="1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795" name="矩形 33794"/>
          <p:cNvSpPr/>
          <p:nvPr/>
        </p:nvSpPr>
        <p:spPr>
          <a:xfrm>
            <a:off x="611505" y="405130"/>
            <a:ext cx="6937375" cy="609600"/>
          </a:xfrm>
          <a:prstGeom prst="rect">
            <a:avLst/>
          </a:prstGeom>
          <a:noFill/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marR="0" lvl="0" indent="-4572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None/>
              <a:defRPr/>
            </a:pP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数字图像处理</a:t>
            </a:r>
            <a:r>
              <a:rPr kumimoji="0" 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</a:t>
            </a:r>
            <a:r>
              <a:rPr kumimoji="0" lang="en-US" altLang="zh-CN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matlab</a:t>
            </a:r>
            <a:r>
              <a:rPr kumimoji="0" lang="zh-CN" altLang="en-US" sz="3200" b="1" i="0" u="none" strike="noStrike" kern="1200" cap="none" spc="0" normalizeH="0" baseline="0" noProof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endParaRPr kumimoji="0" lang="zh-CN" altLang="en-US" sz="3200" b="1" i="0" u="none" strike="noStrike" kern="1200" cap="none" spc="0" normalizeH="0" baseline="0" noProof="1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6151"/>
          <p:cNvSpPr txBox="1"/>
          <p:nvPr/>
        </p:nvSpPr>
        <p:spPr>
          <a:xfrm>
            <a:off x="1692275" y="6309360"/>
            <a:ext cx="5759450" cy="33718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</a:pP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《数字图像处理》实验</a:t>
            </a:r>
            <a:r>
              <a:rPr lang="en-US" altLang="zh-CN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1600" dirty="0">
                <a:solidFill>
                  <a:srgbClr val="6E859D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电子信息与电气工程学院</a:t>
            </a:r>
            <a:endParaRPr lang="zh-CN" altLang="en-US" sz="1600" dirty="0">
              <a:solidFill>
                <a:srgbClr val="6E859D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lhYjFhY2FjMDQ5ZmE0OGM4MzdmNWNkZjY0NWFkNmQifQ=="/>
</p:tagLst>
</file>

<file path=ppt/theme/theme1.xml><?xml version="1.0" encoding="utf-8"?>
<a:theme xmlns:a="http://schemas.openxmlformats.org/drawingml/2006/main" name="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0</TotalTime>
  <Words>1695</Words>
  <Application>WPS 演示</Application>
  <PresentationFormat>在屏幕上显示</PresentationFormat>
  <Paragraphs>115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Verdana</vt:lpstr>
      <vt:lpstr>微软雅黑</vt:lpstr>
      <vt:lpstr>Tahoma</vt:lpstr>
      <vt:lpstr>华文楷体</vt:lpstr>
      <vt:lpstr>Symbol</vt:lpstr>
      <vt:lpstr>Times New Roman</vt:lpstr>
      <vt:lpstr>Arial Unicode MS</vt:lpstr>
      <vt:lpstr>Calibri</vt:lpstr>
      <vt:lpstr>Profile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微软用户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 IIR数字滤波器的设计</dc:title>
  <dc:creator>杨顺辽</dc:creator>
  <cp:lastModifiedBy>三人</cp:lastModifiedBy>
  <cp:revision>69</cp:revision>
  <dcterms:created xsi:type="dcterms:W3CDTF">2010-11-21T10:40:00Z</dcterms:created>
  <dcterms:modified xsi:type="dcterms:W3CDTF">2025-03-18T01:30:14Z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FA182B2684AD470BBCB2F0095A8702B2</vt:lpwstr>
  </property>
  <property fmtid="{D5CDD505-2E9C-101B-9397-08002B2CF9AE}" pid="3" name="KSOProductBuildVer">
    <vt:lpwstr>2052-12.1.0.20305</vt:lpwstr>
  </property>
</Properties>
</file>