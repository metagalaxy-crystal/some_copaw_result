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559" r:id="rId3"/>
    <p:sldId id="560" r:id="rId4"/>
    <p:sldId id="561" r:id="rId5"/>
    <p:sldId id="588" r:id="rId6"/>
    <p:sldId id="589" r:id="rId7"/>
    <p:sldId id="590" r:id="rId8"/>
    <p:sldId id="591" r:id="rId9"/>
    <p:sldId id="592" r:id="rId10"/>
    <p:sldId id="566" r:id="rId11"/>
    <p:sldId id="569" r:id="rId12"/>
    <p:sldId id="571" r:id="rId13"/>
    <p:sldId id="570" r:id="rId14"/>
  </p:sldIdLst>
  <p:sldSz cx="9144000" cy="6858000" type="screen4x3"/>
  <p:notesSz cx="6858000" cy="9144000"/>
  <p:custDataLst>
    <p:tags r:id="rId1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微软中国" initials="微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72" d="100"/>
          <a:sy n="72" d="100"/>
        </p:scale>
        <p:origin x="-1104" y="-102"/>
      </p:cViewPr>
      <p:guideLst>
        <p:guide orient="horz" pos="2167"/>
        <p:guide pos="283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2050" name="任意多边形 5126"/>
          <p:cNvSpPr/>
          <p:nvPr/>
        </p:nvSpPr>
        <p:spPr>
          <a:xfrm>
            <a:off x="611188" y="1339850"/>
            <a:ext cx="7772400" cy="109538"/>
          </a:xfrm>
          <a:custGeom>
            <a:avLst/>
            <a:gdLst/>
            <a:ahLst/>
            <a:cxnLst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22" name="标题 5121"/>
          <p:cNvSpPr>
            <a:spLocks noGrp="1"/>
          </p:cNvSpPr>
          <p:nvPr>
            <p:ph type="ctrTitle"/>
          </p:nvPr>
        </p:nvSpPr>
        <p:spPr>
          <a:xfrm>
            <a:off x="467995" y="0"/>
            <a:ext cx="7772400" cy="1371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lvl="0">
              <a:buClrTx/>
              <a:buSzTx/>
              <a:buFontTx/>
              <a:defRPr sz="4000"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5123" name="副标题 5122"/>
          <p:cNvSpPr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>
              <a:buClr>
                <a:schemeClr val="accent2"/>
              </a:buClr>
              <a:buSzTx/>
              <a:buFont typeface="Wingdings" panose="05000000000000000000" pitchFamily="2" charset="2"/>
              <a:buNone/>
              <a:defRPr sz="2800"/>
            </a:lvl1pPr>
            <a:lvl2pPr marL="457200" lvl="1" indent="14605" algn="ctr">
              <a:buClr>
                <a:schemeClr val="accent2"/>
              </a:buClr>
              <a:buSzTx/>
              <a:buFont typeface="Wingdings" panose="05000000000000000000" pitchFamily="2" charset="2"/>
              <a:buNone/>
              <a:defRPr sz="2800"/>
            </a:lvl2pPr>
            <a:lvl3pPr marL="909955" lvl="2" indent="0" algn="ctr">
              <a:buClr>
                <a:schemeClr val="accent2"/>
              </a:buClr>
              <a:buSzTx/>
              <a:buFont typeface="Wingdings" panose="05000000000000000000" pitchFamily="2" charset="2"/>
              <a:buNone/>
              <a:defRPr sz="2800"/>
            </a:lvl3pPr>
            <a:lvl4pPr marL="1306830" lvl="3" indent="0" algn="ctr">
              <a:buClr>
                <a:schemeClr val="accent2"/>
              </a:buClr>
              <a:buSzTx/>
              <a:buFont typeface="Wingdings" panose="05000000000000000000" pitchFamily="2" charset="2"/>
              <a:buNone/>
              <a:defRPr sz="2800"/>
            </a:lvl4pPr>
            <a:lvl5pPr marL="1695450" lvl="4" indent="0" algn="ctr">
              <a:buClr>
                <a:schemeClr val="accent2"/>
              </a:buClr>
              <a:buSzTx/>
              <a:buFont typeface="Wingdings" panose="05000000000000000000" pitchFamily="2" charset="2"/>
              <a:buNone/>
              <a:defRPr sz="2800"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5124" name="日期占位符 512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>
              <a:defRPr sz="1200">
                <a:latin typeface="Verdana" panose="020B0604030504040204" pitchFamily="34" charset="0"/>
              </a:defRPr>
            </a:lvl1pPr>
          </a:lstStyle>
          <a:p>
            <a:pPr fontAlgn="base"/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125" name="页脚占位符 512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>
              <a:defRPr sz="1200">
                <a:latin typeface="Verdana" panose="020B0604030504040204" pitchFamily="34" charset="0"/>
              </a:defRPr>
            </a:lvl1pPr>
          </a:lstStyle>
          <a:p>
            <a:pPr fontAlgn="base"/>
            <a:endParaRPr lang="zh-CN" altLang="en-US" strike="noStrike" noProof="1" dirty="0"/>
          </a:p>
        </p:txBody>
      </p:sp>
      <p:sp>
        <p:nvSpPr>
          <p:cNvPr id="5126" name="灯片编号占位符 512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pPr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605" y="0"/>
            <a:ext cx="8001000" cy="1216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0490" cy="42672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7248" y="1752600"/>
            <a:ext cx="3920490" cy="42672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441" y="304800"/>
            <a:ext cx="2002234" cy="57150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90631" cy="57150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825625"/>
            <a:ext cx="3886200" cy="20986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29150" y="4076700"/>
            <a:ext cx="3886200" cy="21002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81000" y="284163"/>
            <a:ext cx="8382000" cy="588803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1.pn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1026" name="文本占位符 4098"/>
          <p:cNvSpPr>
            <a:spLocks noGrp="1"/>
          </p:cNvSpPr>
          <p:nvPr>
            <p:ph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7" name="任意多边形 4099"/>
          <p:cNvSpPr/>
          <p:nvPr userDrawn="1"/>
        </p:nvSpPr>
        <p:spPr>
          <a:xfrm>
            <a:off x="587375" y="1123950"/>
            <a:ext cx="7958138" cy="109538"/>
          </a:xfrm>
          <a:custGeom>
            <a:avLst/>
            <a:gdLst/>
            <a:ahLst/>
            <a:cxnLst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28" name="直接连接符 4100"/>
          <p:cNvSpPr/>
          <p:nvPr userDrawn="1"/>
        </p:nvSpPr>
        <p:spPr>
          <a:xfrm flipV="1">
            <a:off x="609600" y="6172200"/>
            <a:ext cx="7924800" cy="0"/>
          </a:xfrm>
          <a:prstGeom prst="line">
            <a:avLst/>
          </a:prstGeom>
          <a:ln w="31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102" name="日期占位符 4101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200">
                <a:latin typeface="Verdana" panose="020B0604030504040204" pitchFamily="34" charset="0"/>
              </a:defRPr>
            </a:lvl1pPr>
          </a:lstStyle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4103" name="页脚占位符 4102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200">
                <a:latin typeface="Verdana" panose="020B0604030504040204" pitchFamily="34" charset="0"/>
              </a:defRPr>
            </a:lvl1pPr>
          </a:lstStyle>
          <a:p>
            <a:pPr lvl="0" fontAlgn="base"/>
            <a:endParaRPr lang="zh-CN" altLang="en-US" strike="noStrike" noProof="1" dirty="0"/>
          </a:p>
        </p:txBody>
      </p:sp>
      <p:sp>
        <p:nvSpPr>
          <p:cNvPr id="4104" name="灯片编号占位符 4103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pic>
        <p:nvPicPr>
          <p:cNvPr id="1032" name="图片 21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669213" y="115888"/>
            <a:ext cx="1258887" cy="4064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8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69900" lvl="0" indent="-469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908050" lvl="1" indent="-436245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304925" lvl="2" indent="-39497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94180" lvl="3" indent="-3873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94230" lvl="4" indent="-39878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2049"/>
          <p:cNvSpPr>
            <a:spLocks noGrp="1"/>
          </p:cNvSpPr>
          <p:nvPr/>
        </p:nvSpPr>
        <p:spPr>
          <a:xfrm>
            <a:off x="1403985" y="4221480"/>
            <a:ext cx="6965315" cy="14700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40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 fontAlgn="base">
              <a:buSzTx/>
              <a:buFontTx/>
              <a:buNone/>
            </a:pPr>
            <a:r>
              <a:rPr lang="zh-CN" b="1" strike="noStrike" noProof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实验三</a:t>
            </a:r>
            <a:r>
              <a:rPr lang="en-US" altLang="zh-CN" b="1" strike="noStrike" noProof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b="1" strike="noStrike" noProof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图像的空域变换增强</a:t>
            </a:r>
            <a:endParaRPr lang="zh-CN" altLang="en-US" b="1" strike="noStrike" kern="1200" baseline="0" noProof="1">
              <a:solidFill>
                <a:schemeClr val="folHlin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7170" name="图片 1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08050"/>
            <a:ext cx="9144000" cy="27892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5" name="文本框 6151"/>
          <p:cNvSpPr txBox="1"/>
          <p:nvPr/>
        </p:nvSpPr>
        <p:spPr>
          <a:xfrm>
            <a:off x="1692275" y="6309360"/>
            <a:ext cx="5759450" cy="3371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《数字图像处理》实验</a:t>
            </a:r>
            <a:r>
              <a:rPr lang="en-US" altLang="zh-CN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电子信息与电气工程学院</a:t>
            </a:r>
            <a:endParaRPr lang="zh-CN" altLang="en-US" sz="1600" dirty="0">
              <a:solidFill>
                <a:srgbClr val="6E859D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 spd="slow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矩形 33794"/>
          <p:cNvSpPr/>
          <p:nvPr/>
        </p:nvSpPr>
        <p:spPr>
          <a:xfrm>
            <a:off x="570230" y="476885"/>
            <a:ext cx="8284845" cy="609600"/>
          </a:xfrm>
          <a:prstGeom prst="rect">
            <a:avLst/>
          </a:prstGeom>
          <a:noFill/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None/>
              <a:defRPr/>
            </a:pP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实验三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图像的空域变换增强</a:t>
            </a:r>
            <a:endParaRPr kumimoji="0" lang="zh-CN" sz="3200" b="1" i="0" u="none" strike="noStrike" kern="1200" cap="none" spc="0" normalizeH="0" baseline="0" noProof="1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288" y="1484630"/>
            <a:ext cx="217995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kumimoji="0" lang="zh-CN" altLang="en-US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、实验目的</a:t>
            </a:r>
            <a:endParaRPr kumimoji="0" lang="zh-CN" altLang="en-US" b="1" kern="1200" cap="none" spc="0" normalizeH="0" baseline="0" noProof="0" dirty="0">
              <a:solidFill>
                <a:srgbClr val="FF0066"/>
              </a:solidFill>
              <a:effectLst>
                <a:outerShdw blurRad="50800" dir="5400000" algn="tl">
                  <a:srgbClr val="000000"/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607" name="Rectangle 7"/>
          <p:cNvSpPr/>
          <p:nvPr/>
        </p:nvSpPr>
        <p:spPr>
          <a:xfrm>
            <a:off x="683895" y="2348865"/>
            <a:ext cx="7305040" cy="34150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sz="24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1．了解灰度变换（线性、非线性）的基本原理； </a:t>
            </a:r>
            <a:endParaRPr sz="2400" strike="noStrike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2．掌握线性变换处理的方法； </a:t>
            </a:r>
            <a:endParaRPr sz="2400" strike="noStrike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．</a:t>
            </a:r>
            <a:r>
              <a:rPr sz="24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掌握直方图均衡化、规定化的基本原理和处理过程</a:t>
            </a:r>
            <a:r>
              <a:rPr lang="zh-CN" sz="24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sz="24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2400" strike="noStrike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sz="24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．利用MATLAB（Python）编写图像线性变换处理和直方图均衡化、规定化的程序</a:t>
            </a:r>
            <a:r>
              <a:rPr lang="zh-CN" sz="24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sz="24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sz="2400" strike="noStrike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6151"/>
          <p:cNvSpPr txBox="1"/>
          <p:nvPr/>
        </p:nvSpPr>
        <p:spPr>
          <a:xfrm>
            <a:off x="1692275" y="6309360"/>
            <a:ext cx="5759450" cy="3371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《数字图像处理》实验</a:t>
            </a:r>
            <a:r>
              <a:rPr lang="en-US" altLang="zh-CN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电子信息与电气工程学院</a:t>
            </a:r>
            <a:endParaRPr lang="zh-CN" altLang="en-US" sz="1600" dirty="0">
              <a:solidFill>
                <a:srgbClr val="6E859D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9750" y="1412875"/>
            <a:ext cx="217995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kumimoji="0" lang="zh-CN" altLang="en-US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、实验原理</a:t>
            </a:r>
            <a:endParaRPr kumimoji="0" lang="zh-CN" altLang="en-US" b="1" kern="1200" cap="none" spc="0" normalizeH="0" baseline="0" noProof="0" dirty="0">
              <a:solidFill>
                <a:srgbClr val="FF0066"/>
              </a:solidFill>
              <a:effectLst>
                <a:outerShdw blurRad="50800" dir="5400000" algn="tl">
                  <a:srgbClr val="000000"/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219" name="矩形 8"/>
          <p:cNvSpPr/>
          <p:nvPr/>
        </p:nvSpPr>
        <p:spPr>
          <a:xfrm>
            <a:off x="539750" y="2276793"/>
            <a:ext cx="7040563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2.1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、灰度变换法 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6151"/>
          <p:cNvSpPr txBox="1"/>
          <p:nvPr/>
        </p:nvSpPr>
        <p:spPr>
          <a:xfrm>
            <a:off x="1692275" y="6309360"/>
            <a:ext cx="5759450" cy="3371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《数字图像处理》实验</a:t>
            </a:r>
            <a:r>
              <a:rPr lang="en-US" altLang="zh-CN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电子信息与电气工程学院</a:t>
            </a:r>
            <a:endParaRPr lang="zh-CN" altLang="en-US" sz="1600" dirty="0">
              <a:solidFill>
                <a:srgbClr val="6E859D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2853055"/>
            <a:ext cx="787400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sz="2400">
                <a:ea typeface="微软雅黑" panose="020B0503020204020204" charset="-122"/>
              </a:rPr>
              <a:t>一般成像系统只具有一定的亮度范围，亮度的最大值与最小值之比称为对比度。由于形成图像的系统亮度有限，常出现对比度不足的弊病，使人眼观看图像时视觉效果很差，通过灰度变换法可以大大改善人的视觉效果。灰度变换法又可分为三种：线性、分段线性及非线性变换。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795" name="矩形 33794"/>
          <p:cNvSpPr/>
          <p:nvPr/>
        </p:nvSpPr>
        <p:spPr>
          <a:xfrm>
            <a:off x="570230" y="476885"/>
            <a:ext cx="8284845" cy="609600"/>
          </a:xfrm>
          <a:prstGeom prst="rect">
            <a:avLst/>
          </a:prstGeom>
          <a:noFill/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None/>
              <a:defRPr/>
            </a:pP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实验三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图像的空域变换增强</a:t>
            </a:r>
            <a:endParaRPr kumimoji="0" lang="zh-CN" sz="3200" b="1" i="0" u="none" strike="noStrike" kern="1200" cap="none" spc="0" normalizeH="0" baseline="0" noProof="1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9750" y="1412875"/>
            <a:ext cx="217995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kumimoji="0" lang="zh-CN" altLang="en-US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、实验原理</a:t>
            </a:r>
            <a:endParaRPr kumimoji="0" lang="zh-CN" altLang="en-US" b="1" kern="1200" cap="none" spc="0" normalizeH="0" baseline="0" noProof="0" dirty="0">
              <a:solidFill>
                <a:srgbClr val="FF0066"/>
              </a:solidFill>
              <a:effectLst>
                <a:outerShdw blurRad="50800" dir="5400000" algn="tl">
                  <a:srgbClr val="000000"/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219" name="矩形 8"/>
          <p:cNvSpPr/>
          <p:nvPr/>
        </p:nvSpPr>
        <p:spPr>
          <a:xfrm>
            <a:off x="539750" y="2276793"/>
            <a:ext cx="7040563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）、线性变换 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6151"/>
          <p:cNvSpPr txBox="1"/>
          <p:nvPr/>
        </p:nvSpPr>
        <p:spPr>
          <a:xfrm>
            <a:off x="1692275" y="6309360"/>
            <a:ext cx="5759450" cy="3371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《数字图像处理》实验</a:t>
            </a:r>
            <a:r>
              <a:rPr lang="en-US" altLang="zh-CN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电子信息与电气工程学院</a:t>
            </a:r>
            <a:endParaRPr lang="zh-CN" altLang="en-US" sz="1600" dirty="0">
              <a:solidFill>
                <a:srgbClr val="6E859D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2853055"/>
            <a:ext cx="7874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假定原图像 </a:t>
            </a:r>
            <a:r>
              <a:rPr sz="2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f</a:t>
            </a:r>
            <a:r>
              <a:rPr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sz="2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x</a:t>
            </a:r>
            <a:r>
              <a:rPr lang="zh-CN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sz="2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y</a:t>
            </a:r>
            <a:r>
              <a:rPr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)的灰度范围为[</a:t>
            </a:r>
            <a:r>
              <a:rPr sz="2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lang="zh-CN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sz="2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</a:t>
            </a:r>
            <a:r>
              <a:rPr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]，希望变换后图像 </a:t>
            </a:r>
            <a:r>
              <a:rPr sz="2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g</a:t>
            </a:r>
            <a:r>
              <a:rPr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sz="2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x</a:t>
            </a:r>
            <a:r>
              <a:rPr lang="zh-CN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sz="2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y</a:t>
            </a:r>
            <a:r>
              <a:rPr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 的灰度范围扩展至[</a:t>
            </a:r>
            <a:r>
              <a:rPr sz="2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lang="zh-CN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sz="2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d</a:t>
            </a:r>
            <a:r>
              <a:rPr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]，线性变换表示式为：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124075" y="4167505"/>
          <a:ext cx="4885690" cy="1437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3009900" imgH="787400" progId="Equation.KSEE3">
                  <p:embed/>
                </p:oleObj>
              </mc:Choice>
              <mc:Fallback>
                <p:oleObj name="" r:id="rId1" imgW="3009900" imgH="7874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24075" y="4167505"/>
                        <a:ext cx="4885690" cy="1437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83895" y="5589270"/>
            <a:ext cx="527050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其中</a:t>
            </a:r>
            <a:r>
              <a:rPr lang="en-US" altLang="zh-CN" sz="2400" i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F</a:t>
            </a:r>
            <a:r>
              <a:rPr lang="en-US" altLang="zh-CN" sz="2400" i="1" baseline="-25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max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为输入图像的最大值灰度值。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3795" name="矩形 33794"/>
          <p:cNvSpPr/>
          <p:nvPr/>
        </p:nvSpPr>
        <p:spPr>
          <a:xfrm>
            <a:off x="570230" y="476885"/>
            <a:ext cx="8284845" cy="609600"/>
          </a:xfrm>
          <a:prstGeom prst="rect">
            <a:avLst/>
          </a:prstGeom>
          <a:noFill/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None/>
              <a:defRPr/>
            </a:pP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实验三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图像的空域变换增强</a:t>
            </a:r>
            <a:endParaRPr kumimoji="0" lang="zh-CN" sz="3200" b="1" i="0" u="none" strike="noStrike" kern="1200" cap="none" spc="0" normalizeH="0" baseline="0" noProof="1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9750" y="1412875"/>
            <a:ext cx="217995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kumimoji="0" lang="zh-CN" altLang="en-US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、实验原理</a:t>
            </a:r>
            <a:endParaRPr kumimoji="0" lang="zh-CN" altLang="en-US" b="1" kern="1200" cap="none" spc="0" normalizeH="0" baseline="0" noProof="0" dirty="0">
              <a:solidFill>
                <a:srgbClr val="FF0066"/>
              </a:solidFill>
              <a:effectLst>
                <a:outerShdw blurRad="50800" dir="5400000" algn="tl">
                  <a:srgbClr val="000000"/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219" name="矩形 8"/>
          <p:cNvSpPr/>
          <p:nvPr/>
        </p:nvSpPr>
        <p:spPr>
          <a:xfrm>
            <a:off x="467360" y="1988503"/>
            <a:ext cx="7040563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）、分段线性变换 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6151"/>
          <p:cNvSpPr txBox="1"/>
          <p:nvPr/>
        </p:nvSpPr>
        <p:spPr>
          <a:xfrm>
            <a:off x="1692275" y="6309360"/>
            <a:ext cx="5759450" cy="3371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《数字图像处理》实验</a:t>
            </a:r>
            <a:r>
              <a:rPr lang="en-US" altLang="zh-CN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电子信息与电气工程学院</a:t>
            </a:r>
            <a:endParaRPr lang="zh-CN" altLang="en-US" sz="1600" dirty="0">
              <a:solidFill>
                <a:srgbClr val="6E859D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5000" y="2421255"/>
            <a:ext cx="7874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为了突出感兴趣的目标或灰度区间，相对抑制那些不感兴趣的目标或灰度区间，常采用分段线性变换法</a:t>
            </a:r>
            <a:r>
              <a:rPr lang="zh-CN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常用的是三段线性变换法，其数学表达式为：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613218" y="3933190"/>
          <a:ext cx="5917565" cy="2180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3644900" imgH="1193800" progId="Equation.KSEE3">
                  <p:embed/>
                </p:oleObj>
              </mc:Choice>
              <mc:Fallback>
                <p:oleObj name="" r:id="rId1" imgW="3644900" imgH="1193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13218" y="3933190"/>
                        <a:ext cx="5917565" cy="2180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5" name="矩形 33794"/>
          <p:cNvSpPr/>
          <p:nvPr/>
        </p:nvSpPr>
        <p:spPr>
          <a:xfrm>
            <a:off x="570230" y="476885"/>
            <a:ext cx="8284845" cy="609600"/>
          </a:xfrm>
          <a:prstGeom prst="rect">
            <a:avLst/>
          </a:prstGeom>
          <a:noFill/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None/>
              <a:defRPr/>
            </a:pP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实验三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图像的空域变换增强</a:t>
            </a:r>
            <a:endParaRPr kumimoji="0" lang="zh-CN" sz="3200" b="1" i="0" u="none" strike="noStrike" kern="1200" cap="none" spc="0" normalizeH="0" baseline="0" noProof="1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9750" y="1412875"/>
            <a:ext cx="217995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kumimoji="0" lang="zh-CN" altLang="en-US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、实验原理</a:t>
            </a:r>
            <a:endParaRPr kumimoji="0" lang="zh-CN" altLang="en-US" b="1" kern="1200" cap="none" spc="0" normalizeH="0" baseline="0" noProof="0" dirty="0">
              <a:solidFill>
                <a:srgbClr val="FF0066"/>
              </a:solidFill>
              <a:effectLst>
                <a:outerShdw blurRad="50800" dir="5400000" algn="tl">
                  <a:srgbClr val="000000"/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219" name="矩形 8"/>
          <p:cNvSpPr/>
          <p:nvPr/>
        </p:nvSpPr>
        <p:spPr>
          <a:xfrm>
            <a:off x="467360" y="2104073"/>
            <a:ext cx="7040563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）、非线性灰度变换 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6151"/>
          <p:cNvSpPr txBox="1"/>
          <p:nvPr/>
        </p:nvSpPr>
        <p:spPr>
          <a:xfrm>
            <a:off x="1692275" y="6309360"/>
            <a:ext cx="5759450" cy="3371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《数字图像处理》实验</a:t>
            </a:r>
            <a:r>
              <a:rPr lang="en-US" altLang="zh-CN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电子信息与电气工程学院</a:t>
            </a:r>
            <a:endParaRPr lang="zh-CN" altLang="en-US" sz="1600" dirty="0">
              <a:solidFill>
                <a:srgbClr val="6E859D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2637155"/>
            <a:ext cx="78740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当用某些非线性函数，例如用对数函数作为映射函数时，可实现图像灰度的非线性变换</a:t>
            </a:r>
            <a:r>
              <a:rPr lang="zh-CN" sz="2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，对数变换可以扩展低值灰度，压缩高值灰度，这样可以使低值灰度的图像细节更容易看清楚，表达式如下：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699703" y="5157470"/>
          <a:ext cx="2722245" cy="394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676400" imgH="215900" progId="Equation.KSEE3">
                  <p:embed/>
                </p:oleObj>
              </mc:Choice>
              <mc:Fallback>
                <p:oleObj name="" r:id="rId1" imgW="1676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99703" y="5157470"/>
                        <a:ext cx="2722245" cy="394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5" name="矩形 33794"/>
          <p:cNvSpPr/>
          <p:nvPr/>
        </p:nvSpPr>
        <p:spPr>
          <a:xfrm>
            <a:off x="570230" y="476885"/>
            <a:ext cx="8284845" cy="609600"/>
          </a:xfrm>
          <a:prstGeom prst="rect">
            <a:avLst/>
          </a:prstGeom>
          <a:noFill/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None/>
              <a:defRPr/>
            </a:pP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实验三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图像的空域变换增强</a:t>
            </a:r>
            <a:endParaRPr kumimoji="0" lang="zh-CN" sz="3200" b="1" i="0" u="none" strike="noStrike" kern="1200" cap="none" spc="0" normalizeH="0" baseline="0" noProof="1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9750" y="1412875"/>
            <a:ext cx="217995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kumimoji="0" lang="zh-CN" altLang="en-US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、实验原理</a:t>
            </a:r>
            <a:endParaRPr kumimoji="0" lang="zh-CN" altLang="en-US" b="1" kern="1200" cap="none" spc="0" normalizeH="0" baseline="0" noProof="0" dirty="0">
              <a:solidFill>
                <a:srgbClr val="FF0066"/>
              </a:solidFill>
              <a:effectLst>
                <a:outerShdw blurRad="50800" dir="5400000" algn="tl">
                  <a:srgbClr val="000000"/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219" name="矩形 8"/>
          <p:cNvSpPr/>
          <p:nvPr/>
        </p:nvSpPr>
        <p:spPr>
          <a:xfrm>
            <a:off x="539750" y="2276793"/>
            <a:ext cx="7040563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2.2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、直方图均衡化 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6151"/>
          <p:cNvSpPr txBox="1"/>
          <p:nvPr/>
        </p:nvSpPr>
        <p:spPr>
          <a:xfrm>
            <a:off x="1692275" y="6309360"/>
            <a:ext cx="5759450" cy="3371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《数字图像处理》实验</a:t>
            </a:r>
            <a:r>
              <a:rPr lang="en-US" altLang="zh-CN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电子信息与电气工程学院</a:t>
            </a:r>
            <a:endParaRPr lang="zh-CN" altLang="en-US" sz="1600" dirty="0">
              <a:solidFill>
                <a:srgbClr val="6E859D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2924810"/>
            <a:ext cx="7874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直方图均衡化就是通过原始图像的灰度</a:t>
            </a:r>
            <a:r>
              <a:rPr lang="zh-CN" altLang="zh-CN" sz="2400" dirty="0">
                <a:solidFill>
                  <a:srgbClr val="FF0066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非线性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变换，使其直方图变成均匀分布，以增加图像灰度值的</a:t>
            </a:r>
            <a:r>
              <a:rPr lang="zh-CN" altLang="zh-CN" sz="2400" dirty="0">
                <a:solidFill>
                  <a:srgbClr val="FF0066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动态范围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，从而达到增强图像整体对比度，使图像变清晰的效果。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795" name="矩形 33794"/>
          <p:cNvSpPr/>
          <p:nvPr/>
        </p:nvSpPr>
        <p:spPr>
          <a:xfrm>
            <a:off x="570230" y="476885"/>
            <a:ext cx="8284845" cy="609600"/>
          </a:xfrm>
          <a:prstGeom prst="rect">
            <a:avLst/>
          </a:prstGeom>
          <a:noFill/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None/>
              <a:defRPr/>
            </a:pP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实验三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图像的空域变换增强</a:t>
            </a:r>
            <a:endParaRPr kumimoji="0" lang="zh-CN" sz="3200" b="1" i="0" u="none" strike="noStrike" kern="1200" cap="none" spc="0" normalizeH="0" baseline="0" noProof="1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9750" y="1412875"/>
            <a:ext cx="217995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kumimoji="0" lang="zh-CN" altLang="en-US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、实验原理</a:t>
            </a:r>
            <a:endParaRPr kumimoji="0" lang="zh-CN" altLang="en-US" b="1" kern="1200" cap="none" spc="0" normalizeH="0" baseline="0" noProof="0" dirty="0">
              <a:solidFill>
                <a:srgbClr val="FF0066"/>
              </a:solidFill>
              <a:effectLst>
                <a:outerShdw blurRad="50800" dir="5400000" algn="tl">
                  <a:srgbClr val="000000"/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219" name="矩形 8"/>
          <p:cNvSpPr/>
          <p:nvPr/>
        </p:nvSpPr>
        <p:spPr>
          <a:xfrm>
            <a:off x="539750" y="2276793"/>
            <a:ext cx="7040563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2.2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、直方图规定化 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6151"/>
          <p:cNvSpPr txBox="1"/>
          <p:nvPr/>
        </p:nvSpPr>
        <p:spPr>
          <a:xfrm>
            <a:off x="1692275" y="6309360"/>
            <a:ext cx="5759450" cy="3371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《数字图像处理》实验</a:t>
            </a:r>
            <a:r>
              <a:rPr lang="en-US" altLang="zh-CN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电子信息与电气工程学院</a:t>
            </a:r>
            <a:endParaRPr lang="zh-CN" altLang="en-US" sz="1600" dirty="0">
              <a:solidFill>
                <a:srgbClr val="6E859D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2924810"/>
            <a:ext cx="7874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直方图均衡化能</a:t>
            </a:r>
            <a:r>
              <a:rPr lang="zh-CN" altLang="zh-CN" sz="2400" dirty="0">
                <a:solidFill>
                  <a:srgbClr val="FF0066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自动增强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整个图像对比度，结果得到</a:t>
            </a:r>
            <a:r>
              <a:rPr lang="zh-CN" altLang="zh-CN" sz="2400" dirty="0">
                <a:solidFill>
                  <a:srgbClr val="FF0066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全局均匀化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的直方图，但实际应用中有时要求</a:t>
            </a:r>
            <a:r>
              <a:rPr lang="zh-CN" altLang="zh-CN" sz="2400" dirty="0">
                <a:solidFill>
                  <a:srgbClr val="FF0066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突出感兴趣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灰度范围，即</a:t>
            </a:r>
            <a:r>
              <a:rPr lang="zh-CN" altLang="zh-CN" sz="2400" dirty="0">
                <a:solidFill>
                  <a:srgbClr val="FF0066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修正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直方图使其具有要求的形式。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795" name="矩形 33794"/>
          <p:cNvSpPr/>
          <p:nvPr/>
        </p:nvSpPr>
        <p:spPr>
          <a:xfrm>
            <a:off x="570230" y="476885"/>
            <a:ext cx="8284845" cy="609600"/>
          </a:xfrm>
          <a:prstGeom prst="rect">
            <a:avLst/>
          </a:prstGeom>
          <a:noFill/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None/>
              <a:defRPr/>
            </a:pP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实验三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图像的空域变换增强</a:t>
            </a:r>
            <a:endParaRPr kumimoji="0" lang="zh-CN" sz="3200" b="1" i="0" u="none" strike="noStrike" kern="1200" cap="none" spc="0" normalizeH="0" baseline="0" noProof="1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9115" y="1268413"/>
            <a:ext cx="217995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kumimoji="0" lang="zh-CN" altLang="en-US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、实验内容</a:t>
            </a:r>
            <a:endParaRPr kumimoji="0" lang="zh-CN" altLang="en-US" b="1" kern="1200" cap="none" spc="0" normalizeH="0" baseline="0" noProof="0" dirty="0">
              <a:solidFill>
                <a:srgbClr val="FF0066"/>
              </a:solidFill>
              <a:effectLst>
                <a:outerShdw blurRad="50800" dir="5400000" algn="tl">
                  <a:srgbClr val="000000"/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242" name="Rectangle 3"/>
          <p:cNvSpPr>
            <a:spLocks noGrp="1" noChangeArrowheads="1"/>
          </p:cNvSpPr>
          <p:nvPr>
            <p:ph idx="1"/>
          </p:nvPr>
        </p:nvSpPr>
        <p:spPr>
          <a:xfrm>
            <a:off x="251460" y="1701165"/>
            <a:ext cx="8531860" cy="4080510"/>
          </a:xfrm>
        </p:spPr>
        <p:txBody>
          <a:bodyPr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．</a:t>
            </a:r>
            <a:r>
              <a:rPr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根据图像线性变换处理的方法和流程，利用 matlab（Python）编写图像线性变换处理的程序</a:t>
            </a:r>
            <a:r>
              <a:rPr 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，包括：①灰度级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0-50</a:t>
            </a:r>
            <a:r>
              <a:rPr lang="zh-CN" altLang="zh-CN" sz="2400" dirty="0">
                <a:solidFill>
                  <a:srgbClr val="FF0066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压缩</a:t>
            </a:r>
            <a:r>
              <a:rPr 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到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0-30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；②</a:t>
            </a:r>
            <a:r>
              <a:rPr 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灰度级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200-255</a:t>
            </a:r>
            <a:r>
              <a:rPr lang="zh-CN" altLang="zh-CN" sz="2400" dirty="0">
                <a:solidFill>
                  <a:srgbClr val="FF0066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压缩</a:t>
            </a:r>
            <a:r>
              <a:rPr 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到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230-255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；③</a:t>
            </a:r>
            <a:r>
              <a:rPr 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灰度级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100-150</a:t>
            </a:r>
            <a:r>
              <a:rPr lang="zh-CN" altLang="zh-CN" sz="2400" dirty="0">
                <a:solidFill>
                  <a:srgbClr val="FF0066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扩展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到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100-200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；④</a:t>
            </a:r>
            <a:r>
              <a:rPr lang="zh-CN" altLang="zh-CN" sz="2400" dirty="0">
                <a:solidFill>
                  <a:srgbClr val="FF0066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反色</a:t>
            </a:r>
            <a:r>
              <a:rPr 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；⑤直方图</a:t>
            </a:r>
            <a:r>
              <a:rPr lang="zh-CN" altLang="zh-CN" sz="2400" dirty="0">
                <a:solidFill>
                  <a:srgbClr val="FF0066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均衡化</a:t>
            </a:r>
            <a:r>
              <a:rPr 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；⑥直方图</a:t>
            </a:r>
            <a:r>
              <a:rPr lang="zh-CN" altLang="zh-CN" sz="2400" dirty="0">
                <a:solidFill>
                  <a:srgbClr val="FF0066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规定化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(50-250</a:t>
            </a:r>
            <a:r>
              <a:rPr lang="zh-CN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间隔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10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均匀直方图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；</a:t>
            </a:r>
            <a:endParaRPr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．</a:t>
            </a:r>
            <a:r>
              <a:rPr lang="zh-CN" sz="2400" dirty="0">
                <a:ea typeface="微软雅黑" panose="020B0503020204020204" charset="-122"/>
              </a:rPr>
              <a:t>采用实验一的</a:t>
            </a:r>
            <a:r>
              <a:rPr lang="en-US" sz="2400" dirty="0">
                <a:ea typeface="微软雅黑" panose="020B0503020204020204" charset="-122"/>
              </a:rPr>
              <a:t>bmp</a:t>
            </a:r>
            <a:r>
              <a:rPr sz="2400" dirty="0">
                <a:ea typeface="微软雅黑" panose="020B0503020204020204" charset="-122"/>
              </a:rPr>
              <a:t>图像，用所编程序对给定图像进行操作，对图像处理后另存为（*.bmp）文件</a:t>
            </a:r>
            <a:r>
              <a:rPr lang="zh-CN" sz="2400" dirty="0">
                <a:ea typeface="微软雅黑" panose="020B0503020204020204" charset="-122"/>
              </a:rPr>
              <a:t>；</a:t>
            </a:r>
            <a:endParaRPr lang="zh-CN" sz="2400" dirty="0"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3.3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．</a:t>
            </a:r>
            <a:r>
              <a:rPr sz="2400" dirty="0">
                <a:ea typeface="微软雅黑" panose="020B0503020204020204" charset="-122"/>
              </a:rPr>
              <a:t>灰度图像的对数变换</a:t>
            </a:r>
            <a:r>
              <a:rPr lang="zh-CN" sz="2400" dirty="0">
                <a:ea typeface="微软雅黑" panose="020B0503020204020204" charset="-122"/>
              </a:rPr>
              <a:t>为选做内容</a:t>
            </a:r>
            <a:r>
              <a:rPr sz="2400" dirty="0">
                <a:ea typeface="微软雅黑" panose="020B0503020204020204" charset="-122"/>
              </a:rPr>
              <a:t>。  </a:t>
            </a:r>
            <a:endParaRPr sz="2400" dirty="0">
              <a:ea typeface="微软雅黑" panose="020B0503020204020204" charset="-122"/>
            </a:endParaRPr>
          </a:p>
        </p:txBody>
      </p:sp>
      <p:sp>
        <p:nvSpPr>
          <p:cNvPr id="12" name="文本框 6151"/>
          <p:cNvSpPr txBox="1"/>
          <p:nvPr/>
        </p:nvSpPr>
        <p:spPr>
          <a:xfrm>
            <a:off x="1692275" y="6309360"/>
            <a:ext cx="5759450" cy="3371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《数字图像处理》实验</a:t>
            </a:r>
            <a:r>
              <a:rPr lang="en-US" altLang="zh-CN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电子信息与电气工程学院</a:t>
            </a:r>
            <a:endParaRPr lang="zh-CN" altLang="en-US" sz="1600" dirty="0">
              <a:solidFill>
                <a:srgbClr val="6E859D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3795" name="矩形 33794"/>
          <p:cNvSpPr/>
          <p:nvPr/>
        </p:nvSpPr>
        <p:spPr>
          <a:xfrm>
            <a:off x="570230" y="476885"/>
            <a:ext cx="8284845" cy="609600"/>
          </a:xfrm>
          <a:prstGeom prst="rect">
            <a:avLst/>
          </a:prstGeom>
          <a:noFill/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None/>
              <a:defRPr/>
            </a:pP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实验三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图像的空域变换增强</a:t>
            </a:r>
            <a:endParaRPr kumimoji="0" lang="zh-CN" sz="3200" b="1" i="0" u="none" strike="noStrike" kern="1200" cap="none" spc="0" normalizeH="0" baseline="0" noProof="1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9750" y="1341438"/>
            <a:ext cx="217995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kumimoji="0" lang="zh-CN" altLang="en-US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、报告要求</a:t>
            </a:r>
            <a:endParaRPr kumimoji="0" lang="zh-CN" altLang="en-US" sz="2000" b="1" kern="1200" cap="none" spc="0" normalizeH="0" baseline="0" noProof="0" dirty="0">
              <a:solidFill>
                <a:srgbClr val="FF0066"/>
              </a:solidFill>
              <a:effectLst>
                <a:outerShdw blurRad="50800" dir="5400000" algn="tl">
                  <a:srgbClr val="000000"/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339" name="文本框 38918"/>
          <p:cNvSpPr txBox="1"/>
          <p:nvPr/>
        </p:nvSpPr>
        <p:spPr>
          <a:xfrm>
            <a:off x="683578" y="2277110"/>
            <a:ext cx="7905750" cy="3192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4.1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、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阐明实验的目的、原理和内容；</a:t>
            </a:r>
            <a:endParaRPr lang="zh-CN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zh-CN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打印主要程序并粘贴在实验报告中；</a:t>
            </a:r>
            <a:endParaRPr lang="zh-CN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endParaRPr lang="zh-CN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4.3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打印实验结果并粘贴在实验报告中；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4.4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针对实验结果加以分析和总结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6151"/>
          <p:cNvSpPr txBox="1"/>
          <p:nvPr/>
        </p:nvSpPr>
        <p:spPr>
          <a:xfrm>
            <a:off x="1692275" y="6309360"/>
            <a:ext cx="5759450" cy="3371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《数字图像处理》实验</a:t>
            </a:r>
            <a:r>
              <a:rPr lang="en-US" altLang="zh-CN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电子信息与电气工程学院</a:t>
            </a:r>
            <a:endParaRPr lang="zh-CN" altLang="en-US" sz="1600" dirty="0">
              <a:solidFill>
                <a:srgbClr val="6E859D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3795" name="矩形 33794"/>
          <p:cNvSpPr/>
          <p:nvPr/>
        </p:nvSpPr>
        <p:spPr>
          <a:xfrm>
            <a:off x="570230" y="476885"/>
            <a:ext cx="8284845" cy="609600"/>
          </a:xfrm>
          <a:prstGeom prst="rect">
            <a:avLst/>
          </a:prstGeom>
          <a:noFill/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None/>
              <a:defRPr/>
            </a:pP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实验三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图像的空域变换增强</a:t>
            </a:r>
            <a:endParaRPr kumimoji="0" lang="zh-CN" sz="3200" b="1" i="0" u="none" strike="noStrike" kern="1200" cap="none" spc="0" normalizeH="0" baseline="0" noProof="1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11505" y="1700848"/>
            <a:ext cx="182435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kumimoji="0" lang="zh-CN" altLang="en-US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、思考题</a:t>
            </a:r>
            <a:endParaRPr kumimoji="0" lang="zh-CN" altLang="en-US" sz="2000" b="1" kern="1200" cap="none" spc="0" normalizeH="0" baseline="0" noProof="0" dirty="0">
              <a:solidFill>
                <a:srgbClr val="FF0066"/>
              </a:solidFill>
              <a:effectLst>
                <a:outerShdw blurRad="50800" dir="5400000" algn="tl">
                  <a:srgbClr val="000000"/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339" name="文本框 38918"/>
          <p:cNvSpPr txBox="1"/>
          <p:nvPr/>
        </p:nvSpPr>
        <p:spPr>
          <a:xfrm>
            <a:off x="683578" y="2951480"/>
            <a:ext cx="7905750" cy="18637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5.1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、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图像的线性变换如何改变图像的亮暗程度？ 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20000"/>
              </a:lnSpc>
            </a:pPr>
            <a:endParaRPr lang="zh-CN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图像直方图的均衡化、规定化如何调整图像的灰度动态范围、明暗对比度？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endParaRPr lang="zh-CN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文本框 6151"/>
          <p:cNvSpPr txBox="1"/>
          <p:nvPr/>
        </p:nvSpPr>
        <p:spPr>
          <a:xfrm>
            <a:off x="1692275" y="6309360"/>
            <a:ext cx="5759450" cy="3371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《数字图像处理》实验</a:t>
            </a:r>
            <a:r>
              <a:rPr lang="en-US" altLang="zh-CN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电子信息与电气工程学院</a:t>
            </a:r>
            <a:endParaRPr lang="zh-CN" altLang="en-US" sz="1600" dirty="0">
              <a:solidFill>
                <a:srgbClr val="6E859D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3795" name="矩形 33794"/>
          <p:cNvSpPr/>
          <p:nvPr/>
        </p:nvSpPr>
        <p:spPr>
          <a:xfrm>
            <a:off x="570230" y="476885"/>
            <a:ext cx="8284845" cy="609600"/>
          </a:xfrm>
          <a:prstGeom prst="rect">
            <a:avLst/>
          </a:prstGeom>
          <a:noFill/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None/>
              <a:defRPr/>
            </a:pP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实验三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图像的空域变换增强</a:t>
            </a:r>
            <a:endParaRPr kumimoji="0" lang="zh-CN" sz="3200" b="1" i="0" u="none" strike="noStrike" kern="1200" cap="none" spc="0" normalizeH="0" baseline="0" noProof="1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38918"/>
          <p:cNvSpPr txBox="1"/>
          <p:nvPr/>
        </p:nvSpPr>
        <p:spPr>
          <a:xfrm>
            <a:off x="539750" y="2420938"/>
            <a:ext cx="7905750" cy="23063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A = imadjust(I,[low_in; high_in],[low_out; high_out]); %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对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I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进行线性变换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A = histeq(I,256);%</a:t>
            </a:r>
            <a:r>
              <a:rPr lang="zh-CN" sz="2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对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I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进行</a:t>
            </a:r>
            <a:r>
              <a:rPr lang="zh-CN" sz="2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直方图均衡化</a:t>
            </a:r>
            <a:endParaRPr lang="zh-CN" sz="2400" dirty="0"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hgram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=50:10:250;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%</a:t>
            </a:r>
            <a:r>
              <a:rPr lang="zh-CN" sz="2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规定目标直方图分布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A=histeq(I,hgram)；%</a:t>
            </a:r>
            <a:r>
              <a:rPr lang="zh-CN" sz="2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对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I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进行直方图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hgram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规定化</a:t>
            </a:r>
            <a:endParaRPr lang="zh-CN" sz="2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795" name="矩形 33794"/>
          <p:cNvSpPr/>
          <p:nvPr/>
        </p:nvSpPr>
        <p:spPr>
          <a:xfrm>
            <a:off x="611505" y="405130"/>
            <a:ext cx="6937375" cy="609600"/>
          </a:xfrm>
          <a:prstGeom prst="rect">
            <a:avLst/>
          </a:prstGeom>
          <a:noFill/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None/>
              <a:defRPr/>
            </a:pP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数字图像处理</a:t>
            </a: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常用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matlab</a:t>
            </a: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</a:t>
            </a: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6151"/>
          <p:cNvSpPr txBox="1"/>
          <p:nvPr/>
        </p:nvSpPr>
        <p:spPr>
          <a:xfrm>
            <a:off x="1692275" y="6309360"/>
            <a:ext cx="5759450" cy="3371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《数字图像处理》实验</a:t>
            </a:r>
            <a:r>
              <a:rPr lang="en-US" altLang="zh-CN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电子信息与电气工程学院</a:t>
            </a:r>
            <a:endParaRPr lang="zh-CN" altLang="en-US" sz="1600" dirty="0">
              <a:solidFill>
                <a:srgbClr val="6E859D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lhYjFhY2FjMDQ5ZmE0OGM4MzdmNWNkZjY0NWFkNmQifQ=="/>
</p:tagLst>
</file>

<file path=ppt/theme/theme1.xml><?xml version="1.0" encoding="utf-8"?>
<a:theme xmlns:a="http://schemas.openxmlformats.org/drawingml/2006/main" name="Profile">
  <a:themeElements>
    <a:clrScheme name="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C"/>
      </a:accent5>
      <a:accent6>
        <a:srgbClr val="B70000"/>
      </a:accent6>
      <a:hlink>
        <a:srgbClr val="336699"/>
      </a:hlink>
      <a:folHlink>
        <a:srgbClr val="003366"/>
      </a:folHlink>
    </a:clrScheme>
    <a:fontScheme name="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800000"/>
        </a:lt1>
        <a:dk2>
          <a:srgbClr val="FFFFFF"/>
        </a:dk2>
        <a:lt2>
          <a:srgbClr val="A50021"/>
        </a:lt2>
        <a:accent1>
          <a:srgbClr val="FF9900"/>
        </a:accent1>
        <a:accent2>
          <a:srgbClr val="FF3300"/>
        </a:accent2>
        <a:accent3>
          <a:srgbClr val="C1AAAA"/>
        </a:accent3>
        <a:accent4>
          <a:srgbClr val="DCDCDC"/>
        </a:accent4>
        <a:accent5>
          <a:srgbClr val="FFCAAA"/>
        </a:accent5>
        <a:accent6>
          <a:srgbClr val="E52D00"/>
        </a:accent6>
        <a:hlink>
          <a:srgbClr val="FFFFCC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1072E"/>
        </a:lt1>
        <a:dk2>
          <a:srgbClr val="FFFFFF"/>
        </a:dk2>
        <a:lt2>
          <a:srgbClr val="3C001E"/>
        </a:lt2>
        <a:accent1>
          <a:srgbClr val="89A38F"/>
        </a:accent1>
        <a:accent2>
          <a:srgbClr val="666699"/>
        </a:accent2>
        <a:accent3>
          <a:srgbClr val="B3AAAC"/>
        </a:accent3>
        <a:accent4>
          <a:srgbClr val="DCDCDC"/>
        </a:accent4>
        <a:accent5>
          <a:srgbClr val="C4CEC6"/>
        </a:accent5>
        <a:accent6>
          <a:srgbClr val="5B5B89"/>
        </a:accent6>
        <a:hlink>
          <a:srgbClr val="8080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FFFFFF"/>
        </a:dk2>
        <a:lt2>
          <a:srgbClr val="333333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CDCDC"/>
        </a:accent4>
        <a:accent5>
          <a:srgbClr val="ADCAFF"/>
        </a:accent5>
        <a:accent6>
          <a:srgbClr val="B70000"/>
        </a:accent6>
        <a:hlink>
          <a:srgbClr val="666699"/>
        </a:hlink>
        <a:folHlink>
          <a:srgbClr val="66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4B3D1B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666699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FFFFFF"/>
        </a:dk2>
        <a:lt2>
          <a:srgbClr val="006666"/>
        </a:lt2>
        <a:accent1>
          <a:srgbClr val="0099CC"/>
        </a:accent1>
        <a:accent2>
          <a:srgbClr val="6666FF"/>
        </a:accent2>
        <a:accent3>
          <a:srgbClr val="AAADB9"/>
        </a:accent3>
        <a:accent4>
          <a:srgbClr val="DCDCDC"/>
        </a:accent4>
        <a:accent5>
          <a:srgbClr val="AACAE2"/>
        </a:accent5>
        <a:accent6>
          <a:srgbClr val="5B5BE5"/>
        </a:accent6>
        <a:hlink>
          <a:srgbClr val="FFFF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6666"/>
        </a:lt1>
        <a:dk2>
          <a:srgbClr val="FFFFFF"/>
        </a:dk2>
        <a:lt2>
          <a:srgbClr val="003366"/>
        </a:lt2>
        <a:accent1>
          <a:srgbClr val="6699FF"/>
        </a:accent1>
        <a:accent2>
          <a:srgbClr val="00CCFF"/>
        </a:accent2>
        <a:accent3>
          <a:srgbClr val="AAB9B9"/>
        </a:accent3>
        <a:accent4>
          <a:srgbClr val="DCDCDC"/>
        </a:accent4>
        <a:accent5>
          <a:srgbClr val="B9CAFF"/>
        </a:accent5>
        <a:accent6>
          <a:srgbClr val="00B7E5"/>
        </a:accent6>
        <a:hlink>
          <a:srgbClr val="FFFFCC"/>
        </a:hlink>
        <a:folHlink>
          <a:srgbClr val="33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4"/>
        </a:accent3>
        <a:accent4>
          <a:srgbClr val="000000"/>
        </a:accent4>
        <a:accent5>
          <a:srgbClr val="FFE2AA"/>
        </a:accent5>
        <a:accent6>
          <a:srgbClr val="A3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6600"/>
        </a:lt1>
        <a:dk2>
          <a:srgbClr val="FFFFFF"/>
        </a:dk2>
        <a:lt2>
          <a:srgbClr val="598600"/>
        </a:lt2>
        <a:accent1>
          <a:srgbClr val="33CC33"/>
        </a:accent1>
        <a:accent2>
          <a:srgbClr val="99CC00"/>
        </a:accent2>
        <a:accent3>
          <a:srgbClr val="ADB9AA"/>
        </a:accent3>
        <a:accent4>
          <a:srgbClr val="DCDCDC"/>
        </a:accent4>
        <a:accent5>
          <a:srgbClr val="ADE2AD"/>
        </a:accent5>
        <a:accent6>
          <a:srgbClr val="89B700"/>
        </a:accent6>
        <a:hlink>
          <a:srgbClr val="FFCC00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C"/>
        </a:accent5>
        <a:accent6>
          <a:srgbClr val="B7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0</TotalTime>
  <Words>1688</Words>
  <Application>WPS 演示</Application>
  <PresentationFormat>在屏幕上显示</PresentationFormat>
  <Paragraphs>120</Paragraphs>
  <Slides>12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宋体</vt:lpstr>
      <vt:lpstr>Wingdings</vt:lpstr>
      <vt:lpstr>Verdana</vt:lpstr>
      <vt:lpstr>微软雅黑</vt:lpstr>
      <vt:lpstr>Tahoma</vt:lpstr>
      <vt:lpstr>华文楷体</vt:lpstr>
      <vt:lpstr>Symbol</vt:lpstr>
      <vt:lpstr>Times New Roman</vt:lpstr>
      <vt:lpstr>Arial Unicode MS</vt:lpstr>
      <vt:lpstr>Calibri</vt:lpstr>
      <vt:lpstr>Profile</vt:lpstr>
      <vt:lpstr>Equation.KSEE3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微软用户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第6章 IIR数字滤波器的设计</dc:title>
  <dc:creator>杨顺辽</dc:creator>
  <cp:lastModifiedBy>杨</cp:lastModifiedBy>
  <cp:revision>75</cp:revision>
  <dcterms:created xsi:type="dcterms:W3CDTF">2010-11-21T10:40:00Z</dcterms:created>
  <dcterms:modified xsi:type="dcterms:W3CDTF">2025-03-28T06:56:19Z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FA182B2684AD470BBCB2F0095A8702B2</vt:lpwstr>
  </property>
  <property fmtid="{D5CDD505-2E9C-101B-9397-08002B2CF9AE}" pid="3" name="KSOProductBuildVer">
    <vt:lpwstr>2052-11.8.2.11718</vt:lpwstr>
  </property>
</Properties>
</file>