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559" r:id="rId3"/>
    <p:sldId id="560" r:id="rId4"/>
    <p:sldId id="561" r:id="rId5"/>
    <p:sldId id="573" r:id="rId6"/>
    <p:sldId id="574" r:id="rId7"/>
    <p:sldId id="566" r:id="rId8"/>
    <p:sldId id="576" r:id="rId9"/>
    <p:sldId id="577" r:id="rId10"/>
    <p:sldId id="569" r:id="rId11"/>
    <p:sldId id="571" r:id="rId12"/>
    <p:sldId id="570" r:id="rId13"/>
  </p:sldIdLst>
  <p:sldSz cx="9144000" cy="6858000" type="screen4x3"/>
  <p:notesSz cx="6858000" cy="9144000"/>
  <p:custDataLst>
    <p:tags r:id="rId18"/>
  </p:custDataLst>
  <p:defaultTextStyle>
    <a:defPPr>
      <a:defRPr lang="zh-CN"/>
    </a:defPPr>
    <a:lvl1pPr marL="0" lvl="0"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Verdana" panose="020B060403050404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Verdana" panose="020B060403050404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Verdana" panose="020B060403050404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Verdana" panose="020B060403050404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Verdana" panose="020B060403050404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Verdana" panose="020B0604030504040204" pitchFamily="34" charset="0"/>
        <a:ea typeface="宋体" panose="02010600030101010101" pitchFamily="2" charset="-122"/>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微软中国" initials="微"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5050"/>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72" d="100"/>
          <a:sy n="72" d="100"/>
        </p:scale>
        <p:origin x="-1104" y="-102"/>
      </p:cViewPr>
      <p:guideLst>
        <p:guide orient="horz" pos="2160"/>
        <p:guide pos="2833"/>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gs" Target="tags/tag1.xml"/><Relationship Id="rId17" Type="http://schemas.openxmlformats.org/officeDocument/2006/relationships/commentAuthors" Target="commentAuthors.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pattFill prst="ltHorz">
          <a:fgClr>
            <a:schemeClr val="bg2"/>
          </a:fgClr>
          <a:bgClr>
            <a:schemeClr val="bg1"/>
          </a:bgClr>
        </a:pattFill>
        <a:effectLst/>
      </p:bgPr>
    </p:bg>
    <p:spTree>
      <p:nvGrpSpPr>
        <p:cNvPr id="1" name=""/>
        <p:cNvGrpSpPr/>
        <p:nvPr/>
      </p:nvGrpSpPr>
      <p:grpSpPr/>
      <p:sp>
        <p:nvSpPr>
          <p:cNvPr id="2050" name="任意多边形 5126"/>
          <p:cNvSpPr/>
          <p:nvPr/>
        </p:nvSpPr>
        <p:spPr>
          <a:xfrm>
            <a:off x="611188" y="1339850"/>
            <a:ext cx="7772400" cy="109538"/>
          </a:xfrm>
          <a:custGeom>
            <a:avLst/>
            <a:gdLst/>
            <a:ahLst/>
            <a:cxnLst/>
            <a:pathLst>
              <a:path w="1000" h="1000" stroke="0">
                <a:moveTo>
                  <a:pt x="0" y="0"/>
                </a:moveTo>
                <a:lnTo>
                  <a:pt x="618" y="0"/>
                </a:lnTo>
                <a:lnTo>
                  <a:pt x="618" y="1000"/>
                </a:lnTo>
                <a:lnTo>
                  <a:pt x="0" y="1000"/>
                </a:lnTo>
                <a:close/>
              </a:path>
              <a:path w="1000" h="1000">
                <a:moveTo>
                  <a:pt x="0" y="0"/>
                </a:moveTo>
                <a:lnTo>
                  <a:pt x="1000" y="0"/>
                </a:lnTo>
              </a:path>
            </a:pathLst>
          </a:custGeom>
          <a:solidFill>
            <a:schemeClr val="accent2"/>
          </a:solidFill>
          <a:ln w="9525" cap="flat" cmpd="sng">
            <a:solidFill>
              <a:schemeClr val="accent2"/>
            </a:solidFill>
            <a:prstDash val="solid"/>
            <a:round/>
            <a:headEnd type="none" w="med" len="med"/>
            <a:tailEnd type="none" w="med" len="med"/>
          </a:ln>
        </p:spPr>
        <p:txBody>
          <a:bodyPr/>
          <a:p>
            <a:endParaRPr lang="zh-CN" altLang="en-US"/>
          </a:p>
        </p:txBody>
      </p:sp>
      <p:sp>
        <p:nvSpPr>
          <p:cNvPr id="5122" name="标题 5121"/>
          <p:cNvSpPr>
            <a:spLocks noGrp="1"/>
          </p:cNvSpPr>
          <p:nvPr>
            <p:ph type="ctrTitle"/>
          </p:nvPr>
        </p:nvSpPr>
        <p:spPr>
          <a:xfrm>
            <a:off x="467995" y="0"/>
            <a:ext cx="7772400" cy="1371600"/>
          </a:xfrm>
          <a:prstGeom prst="rect">
            <a:avLst/>
          </a:prstGeom>
          <a:noFill/>
          <a:ln w="9525">
            <a:noFill/>
          </a:ln>
        </p:spPr>
        <p:txBody>
          <a:bodyPr anchor="b" anchorCtr="0"/>
          <a:lstStyle>
            <a:lvl1pPr lvl="0">
              <a:buClrTx/>
              <a:buSzTx/>
              <a:buFontTx/>
              <a:defRPr sz="4000"/>
            </a:lvl1pPr>
          </a:lstStyle>
          <a:p>
            <a:pPr lvl="0" fontAlgn="base"/>
            <a:r>
              <a:rPr lang="zh-CN" altLang="en-US" strike="noStrike" noProof="1" dirty="0"/>
              <a:t>单击此处编辑母版标题样式</a:t>
            </a:r>
            <a:endParaRPr lang="zh-CN" altLang="en-US" strike="noStrike" noProof="1" dirty="0"/>
          </a:p>
        </p:txBody>
      </p:sp>
      <p:sp>
        <p:nvSpPr>
          <p:cNvPr id="5123" name="副标题 5122"/>
          <p:cNvSpPr>
            <a:spLocks noGrp="1"/>
          </p:cNvSpPr>
          <p:nvPr>
            <p:ph type="subTitle" idx="1"/>
          </p:nvPr>
        </p:nvSpPr>
        <p:spPr>
          <a:xfrm>
            <a:off x="1447800" y="3429000"/>
            <a:ext cx="7010400" cy="1600200"/>
          </a:xfrm>
          <a:prstGeom prst="rect">
            <a:avLst/>
          </a:prstGeom>
          <a:noFill/>
          <a:ln w="9525">
            <a:noFill/>
          </a:ln>
        </p:spPr>
        <p:txBody>
          <a:bodyPr anchor="t" anchorCtr="0"/>
          <a:lstStyle>
            <a:lvl1pPr marL="0" lvl="0" indent="0">
              <a:buClr>
                <a:schemeClr val="accent2"/>
              </a:buClr>
              <a:buSzTx/>
              <a:buFont typeface="Wingdings" panose="05000000000000000000" pitchFamily="2" charset="2"/>
              <a:buNone/>
              <a:defRPr sz="2800"/>
            </a:lvl1pPr>
            <a:lvl2pPr marL="457200" lvl="1" indent="14605" algn="ctr">
              <a:buClr>
                <a:schemeClr val="accent2"/>
              </a:buClr>
              <a:buSzTx/>
              <a:buFont typeface="Wingdings" panose="05000000000000000000" pitchFamily="2" charset="2"/>
              <a:buNone/>
              <a:defRPr sz="2800"/>
            </a:lvl2pPr>
            <a:lvl3pPr marL="909955" lvl="2" indent="0" algn="ctr">
              <a:buClr>
                <a:schemeClr val="accent2"/>
              </a:buClr>
              <a:buSzTx/>
              <a:buFont typeface="Wingdings" panose="05000000000000000000" pitchFamily="2" charset="2"/>
              <a:buNone/>
              <a:defRPr sz="2800"/>
            </a:lvl3pPr>
            <a:lvl4pPr marL="1306830" lvl="3" indent="0" algn="ctr">
              <a:buClr>
                <a:schemeClr val="accent2"/>
              </a:buClr>
              <a:buSzTx/>
              <a:buFont typeface="Wingdings" panose="05000000000000000000" pitchFamily="2" charset="2"/>
              <a:buNone/>
              <a:defRPr sz="2800"/>
            </a:lvl4pPr>
            <a:lvl5pPr marL="1695450" lvl="4" indent="0" algn="ctr">
              <a:buClr>
                <a:schemeClr val="accent2"/>
              </a:buClr>
              <a:buSzTx/>
              <a:buFont typeface="Wingdings" panose="05000000000000000000" pitchFamily="2" charset="2"/>
              <a:buNone/>
              <a:defRPr sz="2800"/>
            </a:lvl5pPr>
          </a:lstStyle>
          <a:p>
            <a:pPr lvl="0" fontAlgn="base"/>
            <a:r>
              <a:rPr lang="zh-CN" altLang="en-US" strike="noStrike" noProof="1" dirty="0"/>
              <a:t>单击此处编辑母版副标题样式</a:t>
            </a:r>
            <a:endParaRPr lang="zh-CN" altLang="en-US" strike="noStrike" noProof="1" dirty="0"/>
          </a:p>
        </p:txBody>
      </p:sp>
      <p:sp>
        <p:nvSpPr>
          <p:cNvPr id="5124" name="日期占位符 5123"/>
          <p:cNvSpPr>
            <a:spLocks noGrp="1"/>
          </p:cNvSpPr>
          <p:nvPr>
            <p:ph type="dt" sz="half" idx="2"/>
          </p:nvPr>
        </p:nvSpPr>
        <p:spPr>
          <a:xfrm>
            <a:off x="685800" y="6248400"/>
            <a:ext cx="1905000" cy="457200"/>
          </a:xfrm>
          <a:prstGeom prst="rect">
            <a:avLst/>
          </a:prstGeom>
          <a:noFill/>
          <a:ln w="9525">
            <a:noFill/>
          </a:ln>
        </p:spPr>
        <p:txBody>
          <a:bodyPr anchor="t" anchorCtr="0"/>
          <a:lstStyle>
            <a:lvl1pPr>
              <a:defRPr sz="1200">
                <a:latin typeface="Verdana" panose="020B0604030504040204" pitchFamily="34" charset="0"/>
              </a:defRPr>
            </a:lvl1pPr>
          </a:lstStyle>
          <a:p>
            <a:pPr fontAlgn="base"/>
            <a:fld id="{BB962C8B-B14F-4D97-AF65-F5344CB8AC3E}" type="datetime1">
              <a:rPr lang="zh-CN" altLang="en-US" strike="noStrike" noProof="1" dirty="0">
                <a:latin typeface="Verdana" panose="020B0604030504040204" pitchFamily="34" charset="0"/>
                <a:ea typeface="宋体" panose="02010600030101010101" pitchFamily="2" charset="-122"/>
                <a:cs typeface="+mn-cs"/>
              </a:rPr>
            </a:fld>
            <a:endParaRPr lang="zh-CN" altLang="en-US" strike="noStrike" noProof="1" dirty="0">
              <a:latin typeface="Arial" panose="020B0604020202020204" pitchFamily="34" charset="0"/>
            </a:endParaRPr>
          </a:p>
        </p:txBody>
      </p:sp>
      <p:sp>
        <p:nvSpPr>
          <p:cNvPr id="5125" name="页脚占位符 5124"/>
          <p:cNvSpPr>
            <a:spLocks noGrp="1"/>
          </p:cNvSpPr>
          <p:nvPr>
            <p:ph type="ftr" sz="quarter" idx="3"/>
          </p:nvPr>
        </p:nvSpPr>
        <p:spPr>
          <a:xfrm>
            <a:off x="3124200" y="6248400"/>
            <a:ext cx="2895600" cy="457200"/>
          </a:xfrm>
          <a:prstGeom prst="rect">
            <a:avLst/>
          </a:prstGeom>
          <a:noFill/>
          <a:ln w="9525">
            <a:noFill/>
          </a:ln>
        </p:spPr>
        <p:txBody>
          <a:bodyPr anchor="t" anchorCtr="0"/>
          <a:lstStyle>
            <a:lvl1pPr algn="ctr">
              <a:defRPr sz="1200">
                <a:latin typeface="Verdana" panose="020B0604030504040204" pitchFamily="34" charset="0"/>
              </a:defRPr>
            </a:lvl1pPr>
          </a:lstStyle>
          <a:p>
            <a:pPr fontAlgn="base"/>
            <a:endParaRPr lang="zh-CN" altLang="en-US" strike="noStrike" noProof="1" dirty="0"/>
          </a:p>
        </p:txBody>
      </p:sp>
      <p:sp>
        <p:nvSpPr>
          <p:cNvPr id="5126" name="灯片编号占位符 5125"/>
          <p:cNvSpPr>
            <a:spLocks noGrp="1"/>
          </p:cNvSpPr>
          <p:nvPr>
            <p:ph type="sldNum" sz="quarter" idx="4"/>
          </p:nvPr>
        </p:nvSpPr>
        <p:spPr>
          <a:xfrm>
            <a:off x="6553200" y="6248400"/>
            <a:ext cx="1905000" cy="457200"/>
          </a:xfrm>
          <a:prstGeom prst="rect">
            <a:avLst/>
          </a:prstGeom>
          <a:noFill/>
          <a:ln w="9525">
            <a:noFill/>
          </a:ln>
        </p:spPr>
        <p:txBody>
          <a:bodyPr anchor="t" anchorCtr="0"/>
          <a:lstStyle>
            <a:lvl1pPr algn="r">
              <a:defRPr sz="1200">
                <a:latin typeface="Verdana" panose="020B0604030504040204" pitchFamily="34" charset="0"/>
              </a:defRPr>
            </a:lvl1pPr>
          </a:lstStyle>
          <a:p>
            <a:pPr fontAlgn="base"/>
            <a:fld id="{9A0DB2DC-4C9A-4742-B13C-FB6460FD3503}" type="slidenum">
              <a:rPr lang="zh-CN" altLang="en-US" strike="noStrike" noProof="1" dirty="0">
                <a:latin typeface="Verdana" panose="020B0604030504040204" pitchFamily="34" charset="0"/>
                <a:ea typeface="宋体" panose="02010600030101010101" pitchFamily="2" charset="-122"/>
                <a:cs typeface="+mn-cs"/>
              </a:rPr>
            </a:fld>
            <a:endParaRPr lang="zh-CN" altLang="en-US" strike="noStrike" noProof="1" dirty="0">
              <a:latin typeface="Arial" panose="020B0604020202020204" pitchFamily="34" charset="0"/>
            </a:endParaRPr>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395605" y="0"/>
            <a:ext cx="8001000" cy="1216025"/>
          </a:xfrm>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lvl="0" fontAlgn="base"/>
            <a:endParaRPr lang="zh-CN" altLang="en-US" strike="noStrike" noProof="1" dirty="0">
              <a:latin typeface="Arial" panose="020B0604020202020204" pitchFamily="34" charset="0"/>
            </a:endParaRPr>
          </a:p>
        </p:txBody>
      </p:sp>
      <p:sp>
        <p:nvSpPr>
          <p:cNvPr id="4" name="页脚占位符 3"/>
          <p:cNvSpPr>
            <a:spLocks noGrp="1"/>
          </p:cNvSpPr>
          <p:nvPr>
            <p:ph type="ftr" sz="quarter" idx="11"/>
          </p:nvPr>
        </p:nvSpPr>
        <p:spPr/>
        <p:txBody>
          <a:bodyPr/>
          <a:p>
            <a:pPr lvl="0" fontAlgn="base"/>
            <a:endParaRPr lang="zh-CN" altLang="en-US" strike="noStrike" noProof="1" dirty="0"/>
          </a:p>
        </p:txBody>
      </p:sp>
      <p:sp>
        <p:nvSpPr>
          <p:cNvPr id="5" name="灯片编号占位符 4"/>
          <p:cNvSpPr>
            <a:spLocks noGrp="1"/>
          </p:cNvSpPr>
          <p:nvPr>
            <p:ph type="sldNum" sz="quarter" idx="12"/>
          </p:nvPr>
        </p:nvSpPr>
        <p:spPr/>
        <p:txBody>
          <a:bodyPr/>
          <a:p>
            <a:pPr lvl="0" fontAlgn="base"/>
            <a:fld id="{9A0DB2DC-4C9A-4742-B13C-FB6460FD3503}" type="slidenum">
              <a:rPr lang="zh-CN" altLang="en-US" strike="noStrike" noProof="1" dirty="0">
                <a:latin typeface="Verdana" panose="020B0604030504040204" pitchFamily="34" charset="0"/>
                <a:ea typeface="宋体" panose="02010600030101010101" pitchFamily="2" charset="-122"/>
                <a:cs typeface="+mn-cs"/>
              </a:rPr>
            </a:fld>
            <a:endParaRPr lang="zh-CN" altLang="en-US" strike="noStrike" noProof="1"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2" name="日期占位符 1"/>
          <p:cNvSpPr>
            <a:spLocks noGrp="1"/>
          </p:cNvSpPr>
          <p:nvPr>
            <p:ph type="dt" sz="half" idx="10"/>
          </p:nvPr>
        </p:nvSpPr>
        <p:spPr/>
        <p:txBody>
          <a:bodyPr/>
          <a:p>
            <a:pPr lvl="0" fontAlgn="base"/>
            <a:endParaRPr lang="zh-CN" altLang="en-US" strike="noStrike" noProof="1" dirty="0">
              <a:latin typeface="Arial" panose="020B0604020202020204" pitchFamily="34" charset="0"/>
            </a:endParaRPr>
          </a:p>
        </p:txBody>
      </p:sp>
      <p:sp>
        <p:nvSpPr>
          <p:cNvPr id="4" name="页脚占位符 3"/>
          <p:cNvSpPr>
            <a:spLocks noGrp="1"/>
          </p:cNvSpPr>
          <p:nvPr>
            <p:ph type="ftr" sz="quarter" idx="11"/>
          </p:nvPr>
        </p:nvSpPr>
        <p:spPr/>
        <p:txBody>
          <a:bodyPr/>
          <a:p>
            <a:pPr lvl="0" fontAlgn="base"/>
            <a:endParaRPr lang="zh-CN" altLang="en-US" strike="noStrike" noProof="1" dirty="0"/>
          </a:p>
        </p:txBody>
      </p:sp>
      <p:sp>
        <p:nvSpPr>
          <p:cNvPr id="5" name="灯片编号占位符 4"/>
          <p:cNvSpPr>
            <a:spLocks noGrp="1"/>
          </p:cNvSpPr>
          <p:nvPr>
            <p:ph type="sldNum" sz="quarter" idx="12"/>
          </p:nvPr>
        </p:nvSpPr>
        <p:spPr/>
        <p:txBody>
          <a:bodyPr/>
          <a:p>
            <a:pPr lvl="0" fontAlgn="base"/>
            <a:fld id="{9A0DB2DC-4C9A-4742-B13C-FB6460FD3503}" type="slidenum">
              <a:rPr lang="zh-CN" altLang="en-US" strike="noStrike" noProof="1" dirty="0">
                <a:latin typeface="Verdana" panose="020B0604030504040204" pitchFamily="34" charset="0"/>
                <a:ea typeface="宋体" panose="02010600030101010101" pitchFamily="2" charset="-122"/>
                <a:cs typeface="+mn-cs"/>
              </a:rPr>
            </a:fld>
            <a:endParaRPr lang="zh-CN" altLang="en-US" strike="noStrike" noProof="1" dirty="0">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1216025"/>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566738" y="1752600"/>
            <a:ext cx="3920490" cy="42672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7248" y="1752600"/>
            <a:ext cx="3920490" cy="42672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lvl="0" fontAlgn="base"/>
            <a:endParaRPr lang="zh-CN" altLang="en-US" strike="noStrike" noProof="1" dirty="0">
              <a:latin typeface="Arial" panose="020B0604020202020204" pitchFamily="34" charset="0"/>
            </a:endParaRPr>
          </a:p>
        </p:txBody>
      </p:sp>
      <p:sp>
        <p:nvSpPr>
          <p:cNvPr id="6" name="页脚占位符 5"/>
          <p:cNvSpPr>
            <a:spLocks noGrp="1"/>
          </p:cNvSpPr>
          <p:nvPr>
            <p:ph type="ftr" sz="quarter" idx="11"/>
          </p:nvPr>
        </p:nvSpPr>
        <p:spPr/>
        <p:txBody>
          <a:bodyPr/>
          <a:p>
            <a:pPr lvl="0" fontAlgn="base"/>
            <a:endParaRPr lang="zh-CN" altLang="en-US" strike="noStrike" noProof="1" dirty="0"/>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dirty="0">
                <a:latin typeface="Verdana" panose="020B0604030504040204" pitchFamily="34" charset="0"/>
                <a:ea typeface="宋体" panose="02010600030101010101" pitchFamily="2" charset="-122"/>
                <a:cs typeface="+mn-cs"/>
              </a:rPr>
            </a:fld>
            <a:endParaRPr lang="zh-CN" altLang="en-US" strike="noStrike" noProof="1"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lvl="0" fontAlgn="base"/>
            <a:endParaRPr lang="zh-CN" altLang="en-US" strike="noStrike" noProof="1" dirty="0">
              <a:latin typeface="Arial" panose="020B0604020202020204" pitchFamily="34" charset="0"/>
            </a:endParaRPr>
          </a:p>
        </p:txBody>
      </p:sp>
      <p:sp>
        <p:nvSpPr>
          <p:cNvPr id="8" name="页脚占位符 7"/>
          <p:cNvSpPr>
            <a:spLocks noGrp="1"/>
          </p:cNvSpPr>
          <p:nvPr>
            <p:ph type="ftr" sz="quarter" idx="11"/>
          </p:nvPr>
        </p:nvSpPr>
        <p:spPr/>
        <p:txBody>
          <a:bodyPr/>
          <a:p>
            <a:pPr lvl="0" fontAlgn="base"/>
            <a:endParaRPr lang="zh-CN" altLang="en-US" strike="noStrike" noProof="1" dirty="0"/>
          </a:p>
        </p:txBody>
      </p:sp>
      <p:sp>
        <p:nvSpPr>
          <p:cNvPr id="9" name="灯片编号占位符 8"/>
          <p:cNvSpPr>
            <a:spLocks noGrp="1"/>
          </p:cNvSpPr>
          <p:nvPr>
            <p:ph type="sldNum" sz="quarter" idx="12"/>
          </p:nvPr>
        </p:nvSpPr>
        <p:spPr/>
        <p:txBody>
          <a:bodyPr/>
          <a:p>
            <a:pPr lvl="0" fontAlgn="base"/>
            <a:fld id="{9A0DB2DC-4C9A-4742-B13C-FB6460FD3503}" type="slidenum">
              <a:rPr lang="zh-CN" altLang="en-US" strike="noStrike" noProof="1" dirty="0">
                <a:latin typeface="Verdana" panose="020B0604030504040204" pitchFamily="34" charset="0"/>
                <a:ea typeface="宋体" panose="02010600030101010101" pitchFamily="2" charset="-122"/>
                <a:cs typeface="+mn-cs"/>
              </a:rPr>
            </a:fld>
            <a:endParaRPr lang="zh-CN" altLang="en-US" strike="noStrike" noProof="1"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1216025"/>
          </a:xfrm>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lvl="0" fontAlgn="base"/>
            <a:endParaRPr lang="zh-CN" altLang="en-US" strike="noStrike" noProof="1" dirty="0">
              <a:latin typeface="Arial" panose="020B0604020202020204" pitchFamily="34" charset="0"/>
            </a:endParaRPr>
          </a:p>
        </p:txBody>
      </p:sp>
      <p:sp>
        <p:nvSpPr>
          <p:cNvPr id="4" name="页脚占位符 3"/>
          <p:cNvSpPr>
            <a:spLocks noGrp="1"/>
          </p:cNvSpPr>
          <p:nvPr>
            <p:ph type="ftr" sz="quarter" idx="11"/>
          </p:nvPr>
        </p:nvSpPr>
        <p:spPr/>
        <p:txBody>
          <a:bodyPr/>
          <a:p>
            <a:pPr lvl="0" fontAlgn="base"/>
            <a:endParaRPr lang="zh-CN" altLang="en-US" strike="noStrike" noProof="1" dirty="0"/>
          </a:p>
        </p:txBody>
      </p:sp>
      <p:sp>
        <p:nvSpPr>
          <p:cNvPr id="5" name="灯片编号占位符 4"/>
          <p:cNvSpPr>
            <a:spLocks noGrp="1"/>
          </p:cNvSpPr>
          <p:nvPr>
            <p:ph type="sldNum" sz="quarter" idx="12"/>
          </p:nvPr>
        </p:nvSpPr>
        <p:spPr/>
        <p:txBody>
          <a:bodyPr/>
          <a:p>
            <a:pPr lvl="0" fontAlgn="base"/>
            <a:fld id="{9A0DB2DC-4C9A-4742-B13C-FB6460FD3503}" type="slidenum">
              <a:rPr lang="zh-CN" altLang="en-US" strike="noStrike" noProof="1" dirty="0">
                <a:latin typeface="Verdana" panose="020B0604030504040204" pitchFamily="34" charset="0"/>
                <a:ea typeface="宋体" panose="02010600030101010101" pitchFamily="2" charset="-122"/>
                <a:cs typeface="+mn-cs"/>
              </a:rPr>
            </a:fld>
            <a:endParaRPr lang="zh-CN" altLang="en-US" strike="noStrike" noProof="1"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lvl="0" fontAlgn="base"/>
            <a:endParaRPr lang="zh-CN" altLang="en-US" strike="noStrike" noProof="1" dirty="0">
              <a:latin typeface="Arial" panose="020B0604020202020204" pitchFamily="34" charset="0"/>
            </a:endParaRPr>
          </a:p>
        </p:txBody>
      </p:sp>
      <p:sp>
        <p:nvSpPr>
          <p:cNvPr id="3" name="页脚占位符 2"/>
          <p:cNvSpPr>
            <a:spLocks noGrp="1"/>
          </p:cNvSpPr>
          <p:nvPr>
            <p:ph type="ftr" sz="quarter" idx="11"/>
          </p:nvPr>
        </p:nvSpPr>
        <p:spPr/>
        <p:txBody>
          <a:bodyPr/>
          <a:p>
            <a:pPr lvl="0" fontAlgn="base"/>
            <a:endParaRPr lang="zh-CN" altLang="en-US" strike="noStrike" noProof="1" dirty="0"/>
          </a:p>
        </p:txBody>
      </p:sp>
      <p:sp>
        <p:nvSpPr>
          <p:cNvPr id="4" name="灯片编号占位符 3"/>
          <p:cNvSpPr>
            <a:spLocks noGrp="1"/>
          </p:cNvSpPr>
          <p:nvPr>
            <p:ph type="sldNum" sz="quarter" idx="12"/>
          </p:nvPr>
        </p:nvSpPr>
        <p:spPr/>
        <p:txBody>
          <a:bodyPr/>
          <a:p>
            <a:pPr lvl="0" fontAlgn="base"/>
            <a:fld id="{9A0DB2DC-4C9A-4742-B13C-FB6460FD3503}" type="slidenum">
              <a:rPr lang="zh-CN" altLang="en-US" strike="noStrike" noProof="1" dirty="0">
                <a:latin typeface="Verdana" panose="020B0604030504040204" pitchFamily="34" charset="0"/>
                <a:ea typeface="宋体" panose="02010600030101010101" pitchFamily="2" charset="-122"/>
                <a:cs typeface="+mn-cs"/>
              </a:rPr>
            </a:fld>
            <a:endParaRPr lang="zh-CN" altLang="en-US" strike="noStrike" noProof="1"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lvl="0" fontAlgn="base"/>
            <a:endParaRPr lang="zh-CN" altLang="en-US" strike="noStrike" noProof="1" dirty="0">
              <a:latin typeface="Arial" panose="020B0604020202020204" pitchFamily="34" charset="0"/>
            </a:endParaRPr>
          </a:p>
        </p:txBody>
      </p:sp>
      <p:sp>
        <p:nvSpPr>
          <p:cNvPr id="6" name="页脚占位符 5"/>
          <p:cNvSpPr>
            <a:spLocks noGrp="1"/>
          </p:cNvSpPr>
          <p:nvPr>
            <p:ph type="ftr" sz="quarter" idx="11"/>
          </p:nvPr>
        </p:nvSpPr>
        <p:spPr/>
        <p:txBody>
          <a:bodyPr/>
          <a:p>
            <a:pPr lvl="0" fontAlgn="base"/>
            <a:endParaRPr lang="zh-CN" altLang="en-US" strike="noStrike" noProof="1" dirty="0"/>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dirty="0">
                <a:latin typeface="Verdana" panose="020B0604030504040204" pitchFamily="34" charset="0"/>
                <a:ea typeface="宋体" panose="02010600030101010101" pitchFamily="2" charset="-122"/>
                <a:cs typeface="+mn-cs"/>
              </a:rPr>
            </a:fld>
            <a:endParaRPr lang="zh-CN" altLang="en-US" strike="noStrike" noProof="1" dirty="0">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lvl="0" fontAlgn="base"/>
            <a:endParaRPr lang="zh-CN" altLang="en-US" strike="noStrike" noProof="1" dirty="0">
              <a:latin typeface="Arial" panose="020B0604020202020204" pitchFamily="34" charset="0"/>
            </a:endParaRPr>
          </a:p>
        </p:txBody>
      </p:sp>
      <p:sp>
        <p:nvSpPr>
          <p:cNvPr id="6" name="页脚占位符 5"/>
          <p:cNvSpPr>
            <a:spLocks noGrp="1"/>
          </p:cNvSpPr>
          <p:nvPr>
            <p:ph type="ftr" sz="quarter" idx="11"/>
          </p:nvPr>
        </p:nvSpPr>
        <p:spPr/>
        <p:txBody>
          <a:bodyPr/>
          <a:p>
            <a:pPr lvl="0" fontAlgn="base"/>
            <a:endParaRPr lang="zh-CN" altLang="en-US" strike="noStrike" noProof="1" dirty="0"/>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dirty="0">
                <a:latin typeface="Verdana" panose="020B0604030504040204" pitchFamily="34" charset="0"/>
                <a:ea typeface="宋体" panose="02010600030101010101" pitchFamily="2" charset="-122"/>
                <a:cs typeface="+mn-cs"/>
              </a:rPr>
            </a:fld>
            <a:endParaRPr lang="zh-CN" altLang="en-US" strike="noStrike" noProof="1" dirty="0">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1216025"/>
          </a:xfrm>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dirty="0">
              <a:latin typeface="Arial" panose="020B0604020202020204" pitchFamily="34" charset="0"/>
            </a:endParaRPr>
          </a:p>
        </p:txBody>
      </p:sp>
      <p:sp>
        <p:nvSpPr>
          <p:cNvPr id="5" name="页脚占位符 4"/>
          <p:cNvSpPr>
            <a:spLocks noGrp="1"/>
          </p:cNvSpPr>
          <p:nvPr>
            <p:ph type="ftr" sz="quarter" idx="11"/>
          </p:nvPr>
        </p:nvSpPr>
        <p:spPr/>
        <p:txBody>
          <a:bodyPr/>
          <a:p>
            <a:pPr lvl="0" fontAlgn="base"/>
            <a:endParaRPr lang="zh-CN" altLang="en-US" strike="noStrike" noProof="1" dirty="0"/>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dirty="0">
                <a:latin typeface="Verdana" panose="020B0604030504040204" pitchFamily="34" charset="0"/>
                <a:ea typeface="宋体" panose="02010600030101010101" pitchFamily="2" charset="-122"/>
                <a:cs typeface="+mn-cs"/>
              </a:rPr>
            </a:fld>
            <a:endParaRPr lang="zh-CN" altLang="en-US" strike="noStrike" noProof="1"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3441" y="304800"/>
            <a:ext cx="2002234" cy="57150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566738" y="304800"/>
            <a:ext cx="5890631" cy="57150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dirty="0">
              <a:latin typeface="Arial" panose="020B0604020202020204" pitchFamily="34" charset="0"/>
            </a:endParaRPr>
          </a:p>
        </p:txBody>
      </p:sp>
      <p:sp>
        <p:nvSpPr>
          <p:cNvPr id="5" name="页脚占位符 4"/>
          <p:cNvSpPr>
            <a:spLocks noGrp="1"/>
          </p:cNvSpPr>
          <p:nvPr>
            <p:ph type="ftr" sz="quarter" idx="11"/>
          </p:nvPr>
        </p:nvSpPr>
        <p:spPr/>
        <p:txBody>
          <a:bodyPr/>
          <a:p>
            <a:pPr lvl="0" fontAlgn="base"/>
            <a:endParaRPr lang="zh-CN" altLang="en-US" strike="noStrike" noProof="1" dirty="0"/>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dirty="0">
                <a:latin typeface="Verdana" panose="020B0604030504040204" pitchFamily="34" charset="0"/>
                <a:ea typeface="宋体" panose="02010600030101010101" pitchFamily="2" charset="-122"/>
                <a:cs typeface="+mn-cs"/>
              </a:rPr>
            </a:fld>
            <a:endParaRPr lang="zh-CN" altLang="en-US" strike="noStrike" noProof="1" dirty="0">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1216025"/>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lvl="0" fontAlgn="base"/>
            <a:endParaRPr lang="zh-CN" altLang="en-US" strike="noStrike" noProof="1" dirty="0">
              <a:latin typeface="Arial" panose="020B0604020202020204" pitchFamily="34" charset="0"/>
            </a:endParaRPr>
          </a:p>
        </p:txBody>
      </p:sp>
      <p:sp>
        <p:nvSpPr>
          <p:cNvPr id="6" name="页脚占位符 5"/>
          <p:cNvSpPr>
            <a:spLocks noGrp="1"/>
          </p:cNvSpPr>
          <p:nvPr>
            <p:ph type="ftr" sz="quarter" idx="11"/>
          </p:nvPr>
        </p:nvSpPr>
        <p:spPr/>
        <p:txBody>
          <a:bodyPr/>
          <a:p>
            <a:pPr lvl="0" fontAlgn="base"/>
            <a:endParaRPr lang="zh-CN" altLang="en-US" strike="noStrike" noProof="1" dirty="0"/>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dirty="0">
                <a:latin typeface="Verdana" panose="020B0604030504040204" pitchFamily="34" charset="0"/>
                <a:ea typeface="宋体" panose="02010600030101010101" pitchFamily="2" charset="-122"/>
                <a:cs typeface="+mn-cs"/>
              </a:rPr>
            </a:fld>
            <a:endParaRPr lang="zh-CN" altLang="en-US" strike="noStrike" noProof="1" dirty="0">
              <a:latin typeface="Arial" panose="020B0604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1216025"/>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4629150" y="1825625"/>
            <a:ext cx="3886200" cy="2098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4629150" y="4076700"/>
            <a:ext cx="3886200" cy="21002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lvl="0" fontAlgn="base"/>
            <a:endParaRPr lang="zh-CN" altLang="en-US" strike="noStrike" noProof="1" dirty="0">
              <a:latin typeface="Arial" panose="020B0604020202020204" pitchFamily="34" charset="0"/>
            </a:endParaRPr>
          </a:p>
        </p:txBody>
      </p:sp>
      <p:sp>
        <p:nvSpPr>
          <p:cNvPr id="7" name="页脚占位符 6"/>
          <p:cNvSpPr>
            <a:spLocks noGrp="1"/>
          </p:cNvSpPr>
          <p:nvPr>
            <p:ph type="ftr" sz="quarter" idx="11"/>
          </p:nvPr>
        </p:nvSpPr>
        <p:spPr/>
        <p:txBody>
          <a:bodyPr/>
          <a:p>
            <a:pPr lvl="0" fontAlgn="base"/>
            <a:endParaRPr lang="zh-CN" altLang="en-US" strike="noStrike" noProof="1" dirty="0"/>
          </a:p>
        </p:txBody>
      </p:sp>
      <p:sp>
        <p:nvSpPr>
          <p:cNvPr id="8" name="灯片编号占位符 7"/>
          <p:cNvSpPr>
            <a:spLocks noGrp="1"/>
          </p:cNvSpPr>
          <p:nvPr>
            <p:ph type="sldNum" sz="quarter" idx="12"/>
          </p:nvPr>
        </p:nvSpPr>
        <p:spPr/>
        <p:txBody>
          <a:bodyPr/>
          <a:p>
            <a:pPr lvl="0" fontAlgn="base"/>
            <a:fld id="{9A0DB2DC-4C9A-4742-B13C-FB6460FD3503}" type="slidenum">
              <a:rPr lang="zh-CN" altLang="en-US" strike="noStrike" noProof="1" dirty="0">
                <a:latin typeface="Verdana" panose="020B0604030504040204" pitchFamily="34" charset="0"/>
                <a:ea typeface="宋体" panose="02010600030101010101" pitchFamily="2" charset="-122"/>
                <a:cs typeface="+mn-cs"/>
              </a:rPr>
            </a:fld>
            <a:endParaRPr lang="zh-CN" altLang="en-US" strike="noStrike" noProof="1" dirty="0">
              <a:latin typeface="Arial" panose="020B060402020202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1216025"/>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p:txBody>
          <a:bodyPr/>
          <a:lstStyle/>
          <a:p>
            <a:pPr fontAlgn="base"/>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dirty="0">
              <a:latin typeface="Arial" panose="020B0604020202020204" pitchFamily="34" charset="0"/>
            </a:endParaRPr>
          </a:p>
        </p:txBody>
      </p:sp>
      <p:sp>
        <p:nvSpPr>
          <p:cNvPr id="5" name="页脚占位符 4"/>
          <p:cNvSpPr>
            <a:spLocks noGrp="1"/>
          </p:cNvSpPr>
          <p:nvPr>
            <p:ph type="ftr" sz="quarter" idx="11"/>
          </p:nvPr>
        </p:nvSpPr>
        <p:spPr/>
        <p:txBody>
          <a:bodyPr/>
          <a:p>
            <a:pPr lvl="0" fontAlgn="base"/>
            <a:endParaRPr lang="zh-CN" altLang="en-US" strike="noStrike" noProof="1" dirty="0"/>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dirty="0">
                <a:latin typeface="Verdana" panose="020B0604030504040204" pitchFamily="34" charset="0"/>
                <a:ea typeface="宋体" panose="02010600030101010101" pitchFamily="2" charset="-122"/>
                <a:cs typeface="+mn-cs"/>
              </a:rPr>
            </a:fld>
            <a:endParaRPr lang="zh-CN" altLang="en-US" strike="noStrike" noProof="1" dirty="0">
              <a:latin typeface="Arial" panose="020B0604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81000" y="284163"/>
            <a:ext cx="8382000" cy="5888037"/>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3" name="日期占位符 2"/>
          <p:cNvSpPr>
            <a:spLocks noGrp="1"/>
          </p:cNvSpPr>
          <p:nvPr>
            <p:ph type="dt" sz="half" idx="10"/>
          </p:nvPr>
        </p:nvSpPr>
        <p:spPr/>
        <p:txBody>
          <a:bodyPr/>
          <a:p>
            <a:pPr lvl="0" fontAlgn="base"/>
            <a:endParaRPr lang="zh-CN" altLang="en-US" strike="noStrike" noProof="1" dirty="0">
              <a:latin typeface="Arial" panose="020B0604020202020204" pitchFamily="34" charset="0"/>
            </a:endParaRPr>
          </a:p>
        </p:txBody>
      </p:sp>
      <p:sp>
        <p:nvSpPr>
          <p:cNvPr id="4" name="页脚占位符 3"/>
          <p:cNvSpPr>
            <a:spLocks noGrp="1"/>
          </p:cNvSpPr>
          <p:nvPr>
            <p:ph type="ftr" sz="quarter" idx="11"/>
          </p:nvPr>
        </p:nvSpPr>
        <p:spPr/>
        <p:txBody>
          <a:bodyPr/>
          <a:p>
            <a:pPr lvl="0" fontAlgn="base"/>
            <a:endParaRPr lang="zh-CN" altLang="en-US" strike="noStrike" noProof="1" dirty="0"/>
          </a:p>
        </p:txBody>
      </p:sp>
      <p:sp>
        <p:nvSpPr>
          <p:cNvPr id="5" name="灯片编号占位符 4"/>
          <p:cNvSpPr>
            <a:spLocks noGrp="1"/>
          </p:cNvSpPr>
          <p:nvPr>
            <p:ph type="sldNum" sz="quarter" idx="12"/>
          </p:nvPr>
        </p:nvSpPr>
        <p:spPr/>
        <p:txBody>
          <a:bodyPr/>
          <a:p>
            <a:pPr lvl="0" fontAlgn="base"/>
            <a:fld id="{9A0DB2DC-4C9A-4742-B13C-FB6460FD3503}" type="slidenum">
              <a:rPr lang="zh-CN" altLang="en-US" strike="noStrike" noProof="1" dirty="0">
                <a:latin typeface="Verdana" panose="020B0604030504040204" pitchFamily="34" charset="0"/>
                <a:ea typeface="宋体" panose="02010600030101010101" pitchFamily="2" charset="-122"/>
                <a:cs typeface="+mn-cs"/>
              </a:rPr>
            </a:fld>
            <a:endParaRPr lang="zh-CN" altLang="en-US" strike="noStrike" noProof="1" dirty="0">
              <a:latin typeface="Arial" panose="020B0604020202020204" pitchFamily="34" charset="0"/>
            </a:endParaRPr>
          </a:p>
        </p:txBody>
      </p:sp>
    </p:spTree>
  </p:cSld>
  <p:clrMapOvr>
    <a:masterClrMapping/>
  </p:clrMapOvr>
  <p:transition spd="slow">
    <p:random/>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1.png"/><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p:sp>
        <p:nvSpPr>
          <p:cNvPr id="1026" name="文本占位符 4098"/>
          <p:cNvSpPr>
            <a:spLocks noGrp="1"/>
          </p:cNvSpPr>
          <p:nvPr>
            <p:ph type="body"/>
          </p:nvPr>
        </p:nvSpPr>
        <p:spPr>
          <a:xfrm>
            <a:off x="566738" y="1752600"/>
            <a:ext cx="8001000" cy="4267200"/>
          </a:xfrm>
          <a:prstGeom prst="rect">
            <a:avLst/>
          </a:prstGeom>
          <a:noFill/>
          <a:ln w="9525">
            <a:noFill/>
          </a:ln>
        </p:spPr>
        <p:txBody>
          <a:bodyPr anchor="t" anchorCtr="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27" name="任意多边形 4099"/>
          <p:cNvSpPr/>
          <p:nvPr userDrawn="1"/>
        </p:nvSpPr>
        <p:spPr>
          <a:xfrm>
            <a:off x="587375" y="1123950"/>
            <a:ext cx="7958138" cy="109538"/>
          </a:xfrm>
          <a:custGeom>
            <a:avLst/>
            <a:gdLst/>
            <a:ahLst/>
            <a:cxnLst/>
            <a:pathLst>
              <a:path w="1000" h="1000" stroke="0">
                <a:moveTo>
                  <a:pt x="0" y="0"/>
                </a:moveTo>
                <a:lnTo>
                  <a:pt x="585" y="0"/>
                </a:lnTo>
                <a:lnTo>
                  <a:pt x="585" y="1000"/>
                </a:lnTo>
                <a:lnTo>
                  <a:pt x="0" y="1000"/>
                </a:lnTo>
                <a:close/>
              </a:path>
              <a:path w="1000" h="1000">
                <a:moveTo>
                  <a:pt x="0" y="0"/>
                </a:moveTo>
                <a:lnTo>
                  <a:pt x="1000" y="0"/>
                </a:lnTo>
              </a:path>
            </a:pathLst>
          </a:custGeom>
          <a:solidFill>
            <a:schemeClr val="accent2"/>
          </a:solidFill>
          <a:ln w="9525" cap="flat" cmpd="sng">
            <a:solidFill>
              <a:schemeClr val="accent2"/>
            </a:solidFill>
            <a:prstDash val="solid"/>
            <a:round/>
            <a:headEnd type="none" w="med" len="med"/>
            <a:tailEnd type="none" w="med" len="med"/>
          </a:ln>
        </p:spPr>
        <p:txBody>
          <a:bodyPr/>
          <a:p>
            <a:endParaRPr lang="zh-CN" altLang="en-US"/>
          </a:p>
        </p:txBody>
      </p:sp>
      <p:sp>
        <p:nvSpPr>
          <p:cNvPr id="1028" name="直接连接符 4100"/>
          <p:cNvSpPr/>
          <p:nvPr userDrawn="1"/>
        </p:nvSpPr>
        <p:spPr>
          <a:xfrm flipV="1">
            <a:off x="609600" y="6172200"/>
            <a:ext cx="7924800" cy="0"/>
          </a:xfrm>
          <a:prstGeom prst="line">
            <a:avLst/>
          </a:prstGeom>
          <a:ln w="3175" cap="flat" cmpd="sng">
            <a:solidFill>
              <a:schemeClr val="accent2"/>
            </a:solidFill>
            <a:prstDash val="solid"/>
            <a:round/>
            <a:headEnd type="none" w="med" len="med"/>
            <a:tailEnd type="none" w="med" len="med"/>
          </a:ln>
        </p:spPr>
      </p:sp>
      <p:sp>
        <p:nvSpPr>
          <p:cNvPr id="4102" name="日期占位符 4101"/>
          <p:cNvSpPr>
            <a:spLocks noGrp="1"/>
          </p:cNvSpPr>
          <p:nvPr>
            <p:ph type="dt" sz="half" idx="2"/>
          </p:nvPr>
        </p:nvSpPr>
        <p:spPr>
          <a:xfrm>
            <a:off x="609600" y="6245225"/>
            <a:ext cx="1981200" cy="476250"/>
          </a:xfrm>
          <a:prstGeom prst="rect">
            <a:avLst/>
          </a:prstGeom>
          <a:noFill/>
          <a:ln w="9525">
            <a:noFill/>
          </a:ln>
        </p:spPr>
        <p:txBody>
          <a:bodyPr/>
          <a:lstStyle>
            <a:lvl1pPr>
              <a:defRPr sz="1200">
                <a:latin typeface="Verdana" panose="020B0604030504040204" pitchFamily="34" charset="0"/>
              </a:defRPr>
            </a:lvl1pPr>
          </a:lstStyle>
          <a:p>
            <a:pPr lvl="0" fontAlgn="base"/>
            <a:endParaRPr lang="zh-CN" altLang="en-US" strike="noStrike" noProof="1" dirty="0">
              <a:latin typeface="Arial" panose="020B0604020202020204" pitchFamily="34" charset="0"/>
            </a:endParaRPr>
          </a:p>
        </p:txBody>
      </p:sp>
      <p:sp>
        <p:nvSpPr>
          <p:cNvPr id="4103" name="页脚占位符 4102"/>
          <p:cNvSpPr>
            <a:spLocks noGrp="1"/>
          </p:cNvSpPr>
          <p:nvPr>
            <p:ph type="ftr" sz="quarter" idx="3"/>
          </p:nvPr>
        </p:nvSpPr>
        <p:spPr>
          <a:xfrm>
            <a:off x="3124200" y="6245225"/>
            <a:ext cx="2895600" cy="476250"/>
          </a:xfrm>
          <a:prstGeom prst="rect">
            <a:avLst/>
          </a:prstGeom>
          <a:noFill/>
          <a:ln w="9525">
            <a:noFill/>
          </a:ln>
        </p:spPr>
        <p:txBody>
          <a:bodyPr/>
          <a:lstStyle>
            <a:lvl1pPr algn="ctr">
              <a:defRPr sz="1200">
                <a:latin typeface="Verdana" panose="020B0604030504040204" pitchFamily="34" charset="0"/>
              </a:defRPr>
            </a:lvl1pPr>
          </a:lstStyle>
          <a:p>
            <a:pPr lvl="0" fontAlgn="base"/>
            <a:endParaRPr lang="zh-CN" altLang="en-US" strike="noStrike" noProof="1" dirty="0"/>
          </a:p>
        </p:txBody>
      </p:sp>
      <p:sp>
        <p:nvSpPr>
          <p:cNvPr id="4104" name="灯片编号占位符 4103"/>
          <p:cNvSpPr>
            <a:spLocks noGrp="1"/>
          </p:cNvSpPr>
          <p:nvPr>
            <p:ph type="sldNum" sz="quarter" idx="4"/>
          </p:nvPr>
        </p:nvSpPr>
        <p:spPr>
          <a:xfrm>
            <a:off x="6553200" y="6245225"/>
            <a:ext cx="1981200" cy="476250"/>
          </a:xfrm>
          <a:prstGeom prst="rect">
            <a:avLst/>
          </a:prstGeom>
          <a:noFill/>
          <a:ln w="9525">
            <a:noFill/>
          </a:ln>
        </p:spPr>
        <p:txBody>
          <a:bodyPr/>
          <a:lstStyle>
            <a:lvl1pPr algn="r">
              <a:defRPr sz="1200">
                <a:latin typeface="Verdana" panose="020B0604030504040204" pitchFamily="34" charset="0"/>
              </a:defRPr>
            </a:lvl1pPr>
          </a:lstStyle>
          <a:p>
            <a:pPr lvl="0" fontAlgn="base"/>
            <a:fld id="{9A0DB2DC-4C9A-4742-B13C-FB6460FD3503}" type="slidenum">
              <a:rPr lang="zh-CN" altLang="en-US" strike="noStrike" noProof="1" dirty="0">
                <a:latin typeface="Verdana" panose="020B0604030504040204" pitchFamily="34" charset="0"/>
                <a:ea typeface="宋体" panose="02010600030101010101" pitchFamily="2" charset="-122"/>
                <a:cs typeface="+mn-cs"/>
              </a:rPr>
            </a:fld>
            <a:endParaRPr lang="zh-CN" altLang="en-US" strike="noStrike" noProof="1" dirty="0">
              <a:latin typeface="Arial" panose="020B0604020202020204" pitchFamily="34" charset="0"/>
            </a:endParaRPr>
          </a:p>
        </p:txBody>
      </p:sp>
      <p:pic>
        <p:nvPicPr>
          <p:cNvPr id="1032" name="图片 21"/>
          <p:cNvPicPr>
            <a:picLocks noChangeAspect="1"/>
          </p:cNvPicPr>
          <p:nvPr userDrawn="1"/>
        </p:nvPicPr>
        <p:blipFill>
          <a:blip r:embed="rId16"/>
          <a:stretch>
            <a:fillRect/>
          </a:stretch>
        </p:blipFill>
        <p:spPr>
          <a:xfrm>
            <a:off x="7669213" y="115888"/>
            <a:ext cx="1258887" cy="40640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lvl1pPr marL="0" lvl="0" indent="0" algn="l" defTabSz="914400" rtl="0" eaLnBrk="1" fontAlgn="base" latinLnBrk="0" hangingPunct="1">
        <a:lnSpc>
          <a:spcPct val="100000"/>
        </a:lnSpc>
        <a:spcBef>
          <a:spcPct val="0"/>
        </a:spcBef>
        <a:spcAft>
          <a:spcPct val="0"/>
        </a:spcAft>
        <a:buNone/>
        <a:defRPr sz="3800" b="0" i="0" u="none" kern="1200" baseline="0">
          <a:solidFill>
            <a:schemeClr val="tx2"/>
          </a:solidFill>
          <a:latin typeface="+mj-lt"/>
          <a:ea typeface="+mj-ea"/>
          <a:cs typeface="+mj-cs"/>
        </a:defRPr>
      </a:lvl1pPr>
    </p:titleStyle>
    <p:bodyStyle>
      <a:lvl1pPr marL="469900" lvl="0" indent="-46990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o"/>
        <a:defRPr sz="3000" b="0" i="0" u="none" kern="1200" baseline="0">
          <a:solidFill>
            <a:schemeClr val="tx1"/>
          </a:solidFill>
          <a:latin typeface="+mn-lt"/>
          <a:ea typeface="+mn-ea"/>
          <a:cs typeface="+mn-cs"/>
        </a:defRPr>
      </a:lvl1pPr>
      <a:lvl2pPr marL="908050" lvl="1" indent="-436245"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n"/>
        <a:defRPr sz="2600" b="0" i="0" u="none" kern="1200" baseline="0">
          <a:solidFill>
            <a:schemeClr val="tx1"/>
          </a:solidFill>
          <a:latin typeface="+mn-lt"/>
          <a:ea typeface="+mn-ea"/>
          <a:cs typeface="+mn-cs"/>
        </a:defRPr>
      </a:lvl2pPr>
      <a:lvl3pPr marL="1304925" lvl="2" indent="-39497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300" b="0" i="0" u="none" kern="1200" baseline="0">
          <a:solidFill>
            <a:schemeClr val="tx1"/>
          </a:solidFill>
          <a:latin typeface="+mn-lt"/>
          <a:ea typeface="+mn-ea"/>
          <a:cs typeface="+mn-cs"/>
        </a:defRPr>
      </a:lvl3pPr>
      <a:lvl4pPr marL="1694180" lvl="3" indent="-38735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n"/>
        <a:defRPr sz="2000" b="0" i="0" u="none" kern="1200" baseline="0">
          <a:solidFill>
            <a:schemeClr val="tx1"/>
          </a:solidFill>
          <a:latin typeface="+mn-lt"/>
          <a:ea typeface="+mn-ea"/>
          <a:cs typeface="+mn-cs"/>
        </a:defRPr>
      </a:lvl4pPr>
      <a:lvl5pPr marL="2094230" lvl="4" indent="-398780" algn="l" defTabSz="914400" rtl="0" eaLnBrk="1" fontAlgn="base" latinLnBrk="0" hangingPunct="1">
        <a:lnSpc>
          <a:spcPct val="100000"/>
        </a:lnSpc>
        <a:spcBef>
          <a:spcPct val="25000"/>
        </a:spcBef>
        <a:spcAft>
          <a:spcPct val="0"/>
        </a:spcAft>
        <a:buClr>
          <a:schemeClr val="accent2"/>
        </a:buClr>
        <a:buFont typeface="Wingdings" panose="05000000000000000000" pitchFamily="2" charset="2"/>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5000"/>
        </a:spcBef>
        <a:spcAft>
          <a:spcPct val="0"/>
        </a:spcAft>
        <a:buClr>
          <a:schemeClr val="accent2"/>
        </a:buClr>
        <a:buFont typeface="Wingdings" panose="05000000000000000000" pitchFamily="2" charset="2"/>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5000"/>
        </a:spcBef>
        <a:spcAft>
          <a:spcPct val="0"/>
        </a:spcAft>
        <a:buClr>
          <a:schemeClr val="accent2"/>
        </a:buClr>
        <a:buFont typeface="Wingdings" panose="05000000000000000000" pitchFamily="2" charset="2"/>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5000"/>
        </a:spcBef>
        <a:spcAft>
          <a:spcPct val="0"/>
        </a:spcAft>
        <a:buClr>
          <a:schemeClr val="accent2"/>
        </a:buClr>
        <a:buFont typeface="Wingdings" panose="05000000000000000000" pitchFamily="2" charset="2"/>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5000"/>
        </a:spcBef>
        <a:spcAft>
          <a:spcPct val="0"/>
        </a:spcAft>
        <a:buClr>
          <a:schemeClr val="accent2"/>
        </a:buClr>
        <a:buFont typeface="Wingdings" panose="05000000000000000000" pitchFamily="2" charset="2"/>
        <a:buChar char="§"/>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Verdana" panose="020B060403050404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Verdana" panose="020B060403050404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Verdana" panose="020B060403050404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Verdana" panose="020B060403050404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Verdana" panose="020B060403050404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标题 2049"/>
          <p:cNvSpPr>
            <a:spLocks noGrp="1"/>
          </p:cNvSpPr>
          <p:nvPr/>
        </p:nvSpPr>
        <p:spPr>
          <a:xfrm>
            <a:off x="539750" y="4221480"/>
            <a:ext cx="8315325" cy="1470025"/>
          </a:xfrm>
          <a:prstGeom prst="rect">
            <a:avLst/>
          </a:prstGeom>
          <a:noFill/>
          <a:ln w="9525">
            <a:noFill/>
          </a:ln>
        </p:spPr>
        <p:txBody>
          <a:bodyPr anchor="ctr" anchorCtr="0"/>
          <a:lstStyle>
            <a:lvl1pPr marL="0" lvl="0" indent="0" algn="l" defTabSz="914400" rtl="0" eaLnBrk="1" fontAlgn="base" latinLnBrk="0" hangingPunct="1">
              <a:lnSpc>
                <a:spcPct val="100000"/>
              </a:lnSpc>
              <a:spcBef>
                <a:spcPct val="0"/>
              </a:spcBef>
              <a:spcAft>
                <a:spcPct val="0"/>
              </a:spcAft>
              <a:buClrTx/>
              <a:buSzTx/>
              <a:buFontTx/>
              <a:buNone/>
              <a:defRPr sz="4000" b="0" i="0" u="none" kern="1200" baseline="0">
                <a:solidFill>
                  <a:schemeClr val="tx2"/>
                </a:solidFill>
                <a:latin typeface="+mj-lt"/>
                <a:ea typeface="+mj-ea"/>
                <a:cs typeface="+mj-cs"/>
              </a:defRPr>
            </a:lvl1pPr>
          </a:lstStyle>
          <a:p>
            <a:pPr defTabSz="914400" fontAlgn="base">
              <a:buSzTx/>
              <a:buFontTx/>
              <a:buNone/>
            </a:pPr>
            <a:r>
              <a:rPr lang="zh-CN" sz="2800" b="1" strike="noStrike" noProof="1">
                <a:ln>
                  <a:noFill/>
                </a:ln>
                <a:solidFill>
                  <a:srgbClr val="FF0066"/>
                </a:solidFill>
                <a:effectLst/>
                <a:uLnTx/>
                <a:uFillTx/>
                <a:latin typeface="微软雅黑" panose="020B0503020204020204" charset="-122"/>
                <a:ea typeface="微软雅黑" panose="020B0503020204020204" charset="-122"/>
                <a:cs typeface="微软雅黑" panose="020B0503020204020204" charset="-122"/>
                <a:sym typeface="+mn-ea"/>
              </a:rPr>
              <a:t>实验一</a:t>
            </a:r>
            <a:r>
              <a:rPr lang="en-US" altLang="zh-CN" sz="2800" b="1" strike="noStrike" noProof="1">
                <a:ln>
                  <a:noFill/>
                </a:ln>
                <a:solidFill>
                  <a:srgbClr val="FF0066"/>
                </a:solidFill>
                <a:effectLst/>
                <a:uLnTx/>
                <a:uFillTx/>
                <a:latin typeface="微软雅黑" panose="020B0503020204020204" charset="-122"/>
                <a:ea typeface="微软雅黑" panose="020B0503020204020204" charset="-122"/>
                <a:cs typeface="微软雅黑" panose="020B0503020204020204" charset="-122"/>
                <a:sym typeface="+mn-ea"/>
              </a:rPr>
              <a:t> </a:t>
            </a:r>
            <a:r>
              <a:rPr lang="zh-CN" altLang="en-US" sz="2800" b="1" strike="noStrike" noProof="1">
                <a:ln>
                  <a:noFill/>
                </a:ln>
                <a:solidFill>
                  <a:srgbClr val="FF0066"/>
                </a:solidFill>
                <a:effectLst/>
                <a:uLnTx/>
                <a:uFillTx/>
                <a:latin typeface="微软雅黑" panose="020B0503020204020204" charset="-122"/>
                <a:ea typeface="微软雅黑" panose="020B0503020204020204" charset="-122"/>
                <a:cs typeface="微软雅黑" panose="020B0503020204020204" charset="-122"/>
                <a:sym typeface="+mn-ea"/>
              </a:rPr>
              <a:t>数字图像的输入、输出、显示、直方图统计</a:t>
            </a:r>
            <a:endParaRPr lang="zh-CN" altLang="en-US" sz="2800" b="1" strike="noStrike" kern="1200" baseline="0" noProof="1">
              <a:solidFill>
                <a:schemeClr val="folHlink"/>
              </a:solidFill>
              <a:latin typeface="Tahoma" panose="020B0604030504040204" pitchFamily="34" charset="0"/>
              <a:ea typeface="宋体" panose="02010600030101010101" pitchFamily="2" charset="-122"/>
            </a:endParaRPr>
          </a:p>
        </p:txBody>
      </p:sp>
      <p:pic>
        <p:nvPicPr>
          <p:cNvPr id="7170" name="图片 1" descr="图片1"/>
          <p:cNvPicPr>
            <a:picLocks noChangeAspect="1"/>
          </p:cNvPicPr>
          <p:nvPr/>
        </p:nvPicPr>
        <p:blipFill>
          <a:blip r:embed="rId1"/>
          <a:stretch>
            <a:fillRect/>
          </a:stretch>
        </p:blipFill>
        <p:spPr>
          <a:xfrm>
            <a:off x="0" y="908050"/>
            <a:ext cx="9144000" cy="2789238"/>
          </a:xfrm>
          <a:prstGeom prst="rect">
            <a:avLst/>
          </a:prstGeom>
          <a:noFill/>
          <a:ln w="9525">
            <a:noFill/>
          </a:ln>
        </p:spPr>
      </p:pic>
      <p:sp>
        <p:nvSpPr>
          <p:cNvPr id="3075" name="文本框 6151"/>
          <p:cNvSpPr txBox="1"/>
          <p:nvPr/>
        </p:nvSpPr>
        <p:spPr>
          <a:xfrm>
            <a:off x="1692275" y="6309360"/>
            <a:ext cx="5759450" cy="337185"/>
          </a:xfrm>
          <a:prstGeom prst="rect">
            <a:avLst/>
          </a:prstGeom>
          <a:noFill/>
          <a:ln w="9525">
            <a:noFill/>
          </a:ln>
        </p:spPr>
        <p:txBody>
          <a:bodyPr anchor="t" anchorCtr="0">
            <a:spAutoFit/>
          </a:bodyPr>
          <a:p>
            <a:pPr algn="ctr">
              <a:spcBef>
                <a:spcPct val="50000"/>
              </a:spcBef>
            </a:pPr>
            <a:r>
              <a:rPr lang="zh-CN" altLang="en-US" sz="1600" dirty="0">
                <a:solidFill>
                  <a:srgbClr val="6E859D"/>
                </a:solidFill>
                <a:latin typeface="华文楷体" panose="02010600040101010101" pitchFamily="2" charset="-122"/>
                <a:ea typeface="华文楷体" panose="02010600040101010101" pitchFamily="2" charset="-122"/>
              </a:rPr>
              <a:t>《数字图像处理》实验</a:t>
            </a:r>
            <a:r>
              <a:rPr lang="en-US" altLang="zh-CN" sz="1600" dirty="0">
                <a:solidFill>
                  <a:srgbClr val="6E859D"/>
                </a:solidFill>
                <a:latin typeface="华文楷体" panose="02010600040101010101" pitchFamily="2" charset="-122"/>
                <a:ea typeface="华文楷体" panose="02010600040101010101" pitchFamily="2" charset="-122"/>
              </a:rPr>
              <a:t>- </a:t>
            </a:r>
            <a:r>
              <a:rPr lang="zh-CN" altLang="en-US" sz="1600" dirty="0">
                <a:solidFill>
                  <a:srgbClr val="6E859D"/>
                </a:solidFill>
                <a:latin typeface="华文楷体" panose="02010600040101010101" pitchFamily="2" charset="-122"/>
                <a:ea typeface="华文楷体" panose="02010600040101010101" pitchFamily="2" charset="-122"/>
              </a:rPr>
              <a:t>电子信息与电气工程学院</a:t>
            </a:r>
            <a:endParaRPr lang="zh-CN" altLang="en-US" sz="1600" dirty="0">
              <a:solidFill>
                <a:srgbClr val="6E859D"/>
              </a:solidFill>
              <a:latin typeface="华文楷体" panose="02010600040101010101" pitchFamily="2" charset="-122"/>
              <a:ea typeface="华文楷体" panose="02010600040101010101" pitchFamily="2" charset="-122"/>
            </a:endParaRPr>
          </a:p>
        </p:txBody>
      </p:sp>
    </p:spTree>
  </p:cSld>
  <p:clrMapOvr>
    <a:masterClrMapping/>
  </p:clrMapOvr>
  <p:transition spd="slow">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矩形 33794"/>
          <p:cNvSpPr/>
          <p:nvPr/>
        </p:nvSpPr>
        <p:spPr>
          <a:xfrm>
            <a:off x="570230" y="476885"/>
            <a:ext cx="8284845" cy="609600"/>
          </a:xfrm>
          <a:prstGeom prst="rect">
            <a:avLst/>
          </a:prstGeom>
          <a:noFill/>
          <a:ln w="12700">
            <a:noFill/>
          </a:ln>
          <a:effectLst>
            <a:outerShdw blurRad="50800" dist="38100" dir="2700000" algn="tl" rotWithShape="0">
              <a:prstClr val="black">
                <a:alpha val="40000"/>
              </a:prstClr>
            </a:outerShdw>
          </a:effectLst>
        </p:spPr>
        <p:txBody>
          <a:bodyPr/>
          <a:lstStyle/>
          <a:p>
            <a:pPr marL="457200" marR="0" lvl="0" indent="-457200" algn="l" defTabSz="914400" rtl="0" eaLnBrk="1" fontAlgn="base" latinLnBrk="0" hangingPunct="1">
              <a:lnSpc>
                <a:spcPct val="120000"/>
              </a:lnSpc>
              <a:spcBef>
                <a:spcPct val="20000"/>
              </a:spcBef>
              <a:spcAft>
                <a:spcPct val="0"/>
              </a:spcAft>
              <a:buClr>
                <a:schemeClr val="tx2"/>
              </a:buClr>
              <a:buSzPct val="90000"/>
              <a:buFont typeface="Symbol" panose="05050102010706020507" pitchFamily="18" charset="2"/>
              <a:buNone/>
              <a:defRPr/>
            </a:pPr>
            <a:r>
              <a:rPr kumimoji="0" lang="zh-CN" b="1" i="0" u="none" strike="noStrike" kern="1200" cap="none" spc="0" normalizeH="0" baseline="0" noProof="1">
                <a:ln>
                  <a:noFill/>
                </a:ln>
                <a:solidFill>
                  <a:srgbClr val="002060"/>
                </a:solidFill>
                <a:effectLst/>
                <a:uLnTx/>
                <a:uFillTx/>
                <a:latin typeface="微软雅黑" panose="020B0503020204020204" charset="-122"/>
                <a:ea typeface="微软雅黑" panose="020B0503020204020204" charset="-122"/>
                <a:cs typeface="微软雅黑" panose="020B0503020204020204" charset="-122"/>
              </a:rPr>
              <a:t>实验一</a:t>
            </a:r>
            <a:r>
              <a:rPr kumimoji="0" lang="en-US" altLang="zh-CN" b="1" i="0" u="none" strike="noStrike" kern="1200" cap="none" spc="0" normalizeH="0" baseline="0" noProof="1">
                <a:ln>
                  <a:noFill/>
                </a:ln>
                <a:solidFill>
                  <a:srgbClr val="002060"/>
                </a:solidFill>
                <a:effectLst/>
                <a:uLnTx/>
                <a:uFillTx/>
                <a:latin typeface="微软雅黑" panose="020B0503020204020204" charset="-122"/>
                <a:ea typeface="微软雅黑" panose="020B0503020204020204" charset="-122"/>
                <a:cs typeface="微软雅黑" panose="020B0503020204020204" charset="-122"/>
              </a:rPr>
              <a:t> </a:t>
            </a:r>
            <a:r>
              <a:rPr kumimoji="0" lang="zh-CN" b="1" i="0" u="none" strike="noStrike" kern="1200" cap="none" spc="0" normalizeH="0" baseline="0" noProof="1">
                <a:ln>
                  <a:noFill/>
                </a:ln>
                <a:solidFill>
                  <a:srgbClr val="002060"/>
                </a:solidFill>
                <a:effectLst/>
                <a:uLnTx/>
                <a:uFillTx/>
                <a:latin typeface="微软雅黑" panose="020B0503020204020204" charset="-122"/>
                <a:ea typeface="微软雅黑" panose="020B0503020204020204" charset="-122"/>
                <a:cs typeface="微软雅黑" panose="020B0503020204020204" charset="-122"/>
              </a:rPr>
              <a:t>数字图像的输入、输出、显示、直方图统计</a:t>
            </a:r>
            <a:endParaRPr kumimoji="0" lang="zh-CN" b="1" i="0" u="none" strike="noStrike" kern="1200" cap="none" spc="0" normalizeH="0" baseline="0" noProof="1">
              <a:ln>
                <a:noFill/>
              </a:ln>
              <a:solidFill>
                <a:srgbClr val="002060"/>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 name="文本框 1"/>
          <p:cNvSpPr txBox="1"/>
          <p:nvPr/>
        </p:nvSpPr>
        <p:spPr>
          <a:xfrm>
            <a:off x="639763" y="1454150"/>
            <a:ext cx="2179955" cy="521970"/>
          </a:xfrm>
          <a:prstGeom prst="rect">
            <a:avLst/>
          </a:prstGeom>
          <a:noFill/>
        </p:spPr>
        <p:txBody>
          <a:bodyPr wrap="none">
            <a:spAutoFit/>
          </a:bodyPr>
          <a:lstStyle/>
          <a:p>
            <a:pPr marR="0" defTabSz="914400">
              <a:buClrTx/>
              <a:buSzTx/>
              <a:buFontTx/>
              <a:buNone/>
              <a:defRPr/>
            </a:pPr>
            <a:r>
              <a:rPr kumimoji="0" lang="en-US" altLang="zh-CN" b="1" kern="1200" cap="none" spc="0" normalizeH="0" baseline="0" noProof="0" dirty="0">
                <a:solidFill>
                  <a:srgbClr val="FF0066"/>
                </a:solidFill>
                <a:effectLst>
                  <a:outerShdw blurRad="50800" dir="5400000" algn="tl">
                    <a:srgbClr val="000000"/>
                  </a:outerShdw>
                </a:effectLst>
                <a:latin typeface="微软雅黑" panose="020B0503020204020204" charset="-122"/>
                <a:ea typeface="微软雅黑" panose="020B0503020204020204" charset="-122"/>
                <a:cs typeface="微软雅黑" panose="020B0503020204020204" charset="-122"/>
                <a:sym typeface="+mn-ea"/>
              </a:rPr>
              <a:t>1</a:t>
            </a:r>
            <a:r>
              <a:rPr kumimoji="0" lang="zh-CN" altLang="en-US" b="1" kern="1200" cap="none" spc="0" normalizeH="0" baseline="0" noProof="0" dirty="0">
                <a:solidFill>
                  <a:srgbClr val="FF0066"/>
                </a:solidFill>
                <a:effectLst>
                  <a:outerShdw blurRad="50800" dir="5400000" algn="tl">
                    <a:srgbClr val="000000"/>
                  </a:outerShdw>
                </a:effectLst>
                <a:latin typeface="微软雅黑" panose="020B0503020204020204" charset="-122"/>
                <a:ea typeface="微软雅黑" panose="020B0503020204020204" charset="-122"/>
                <a:cs typeface="微软雅黑" panose="020B0503020204020204" charset="-122"/>
                <a:sym typeface="+mn-ea"/>
              </a:rPr>
              <a:t>、实验目的</a:t>
            </a:r>
            <a:endParaRPr kumimoji="0" lang="zh-CN" altLang="en-US" b="1" kern="1200" cap="none" spc="0" normalizeH="0" baseline="0" noProof="0" dirty="0">
              <a:solidFill>
                <a:srgbClr val="FF0066"/>
              </a:solidFill>
              <a:effectLst>
                <a:outerShdw blurRad="50800" dir="5400000" algn="tl">
                  <a:srgbClr val="000000"/>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25607" name="Rectangle 7"/>
          <p:cNvSpPr/>
          <p:nvPr/>
        </p:nvSpPr>
        <p:spPr>
          <a:xfrm>
            <a:off x="179705" y="2277110"/>
            <a:ext cx="8880475" cy="3415030"/>
          </a:xfrm>
          <a:prstGeom prst="rect">
            <a:avLst/>
          </a:prstGeom>
          <a:noFill/>
          <a:ln w="9525">
            <a:noFill/>
          </a:ln>
        </p:spPr>
        <p:txBody>
          <a:bodyPr wrap="square" anchor="t" anchorCtr="0">
            <a:spAutoFit/>
          </a:bodyPr>
          <a:lstStyle/>
          <a:p>
            <a:pPr>
              <a:lnSpc>
                <a:spcPct val="150000"/>
              </a:lnSpc>
            </a:pPr>
            <a:r>
              <a:rPr sz="2400" strike="noStrike" noProof="1">
                <a:latin typeface="微软雅黑" panose="020B0503020204020204" charset="-122"/>
                <a:ea typeface="微软雅黑" panose="020B0503020204020204" charset="-122"/>
                <a:cs typeface="微软雅黑" panose="020B0503020204020204" charset="-122"/>
              </a:rPr>
              <a:t>1．了解BMP图像的基本格式； </a:t>
            </a:r>
            <a:endParaRPr sz="2400" strike="noStrike" noProof="1">
              <a:latin typeface="微软雅黑" panose="020B0503020204020204" charset="-122"/>
              <a:ea typeface="微软雅黑" panose="020B0503020204020204" charset="-122"/>
              <a:cs typeface="微软雅黑" panose="020B0503020204020204" charset="-122"/>
            </a:endParaRPr>
          </a:p>
          <a:p>
            <a:pPr>
              <a:lnSpc>
                <a:spcPct val="150000"/>
              </a:lnSpc>
            </a:pPr>
            <a:r>
              <a:rPr sz="2400" strike="noStrike" noProof="1">
                <a:latin typeface="微软雅黑" panose="020B0503020204020204" charset="-122"/>
                <a:ea typeface="微软雅黑" panose="020B0503020204020204" charset="-122"/>
                <a:cs typeface="微软雅黑" panose="020B0503020204020204" charset="-122"/>
              </a:rPr>
              <a:t>2．了解BMP图像文件的打开和存储； </a:t>
            </a:r>
            <a:endParaRPr sz="2400" strike="noStrike" noProof="1">
              <a:latin typeface="微软雅黑" panose="020B0503020204020204" charset="-122"/>
              <a:ea typeface="微软雅黑" panose="020B0503020204020204" charset="-122"/>
              <a:cs typeface="微软雅黑" panose="020B0503020204020204" charset="-122"/>
            </a:endParaRPr>
          </a:p>
          <a:p>
            <a:pPr>
              <a:lnSpc>
                <a:spcPct val="150000"/>
              </a:lnSpc>
            </a:pPr>
            <a:r>
              <a:rPr sz="2400" strike="noStrike" noProof="1">
                <a:latin typeface="微软雅黑" panose="020B0503020204020204" charset="-122"/>
                <a:ea typeface="微软雅黑" panose="020B0503020204020204" charset="-122"/>
                <a:cs typeface="微软雅黑" panose="020B0503020204020204" charset="-122"/>
              </a:rPr>
              <a:t>3．掌握灰度直方图的概念及其计算方法； </a:t>
            </a:r>
            <a:endParaRPr sz="2400" strike="noStrike" noProof="1">
              <a:latin typeface="微软雅黑" panose="020B0503020204020204" charset="-122"/>
              <a:ea typeface="微软雅黑" panose="020B0503020204020204" charset="-122"/>
              <a:cs typeface="微软雅黑" panose="020B0503020204020204" charset="-122"/>
            </a:endParaRPr>
          </a:p>
          <a:p>
            <a:pPr>
              <a:lnSpc>
                <a:spcPct val="150000"/>
              </a:lnSpc>
            </a:pPr>
            <a:r>
              <a:rPr sz="2400" strike="noStrike" noProof="1">
                <a:latin typeface="微软雅黑" panose="020B0503020204020204" charset="-122"/>
                <a:ea typeface="微软雅黑" panose="020B0503020204020204" charset="-122"/>
                <a:cs typeface="微软雅黑" panose="020B0503020204020204" charset="-122"/>
              </a:rPr>
              <a:t>4．利用MATLAB（Python）编写BMP图像的打开和存储的程序</a:t>
            </a:r>
            <a:r>
              <a:rPr lang="zh-CN" sz="2400" strike="noStrike" noProof="1">
                <a:latin typeface="微软雅黑" panose="020B0503020204020204" charset="-122"/>
                <a:ea typeface="微软雅黑" panose="020B0503020204020204" charset="-122"/>
                <a:cs typeface="微软雅黑" panose="020B0503020204020204" charset="-122"/>
              </a:rPr>
              <a:t>；</a:t>
            </a:r>
            <a:r>
              <a:rPr sz="2400" strike="noStrike" noProof="1">
                <a:latin typeface="微软雅黑" panose="020B0503020204020204" charset="-122"/>
                <a:ea typeface="微软雅黑" panose="020B0503020204020204" charset="-122"/>
                <a:cs typeface="微软雅黑" panose="020B0503020204020204" charset="-122"/>
              </a:rPr>
              <a:t> </a:t>
            </a:r>
            <a:endParaRPr sz="2400" strike="noStrike" noProof="1">
              <a:latin typeface="微软雅黑" panose="020B0503020204020204" charset="-122"/>
              <a:ea typeface="微软雅黑" panose="020B0503020204020204" charset="-122"/>
              <a:cs typeface="微软雅黑" panose="020B0503020204020204" charset="-122"/>
            </a:endParaRPr>
          </a:p>
          <a:p>
            <a:pPr>
              <a:lnSpc>
                <a:spcPct val="150000"/>
              </a:lnSpc>
            </a:pPr>
            <a:r>
              <a:rPr sz="2400" strike="noStrike" noProof="1">
                <a:latin typeface="微软雅黑" panose="020B0503020204020204" charset="-122"/>
                <a:ea typeface="微软雅黑" panose="020B0503020204020204" charset="-122"/>
                <a:cs typeface="微软雅黑" panose="020B0503020204020204" charset="-122"/>
              </a:rPr>
              <a:t>5．利用MATLAB（Python）编写BMP图像直方图统计的程序</a:t>
            </a:r>
            <a:r>
              <a:rPr lang="zh-CN" sz="2400" strike="noStrike" noProof="1">
                <a:latin typeface="微软雅黑" panose="020B0503020204020204" charset="-122"/>
                <a:ea typeface="微软雅黑" panose="020B0503020204020204" charset="-122"/>
                <a:cs typeface="微软雅黑" panose="020B0503020204020204" charset="-122"/>
              </a:rPr>
              <a:t>；</a:t>
            </a:r>
            <a:r>
              <a:rPr sz="2400" strike="noStrike" noProof="1">
                <a:latin typeface="微软雅黑" panose="020B0503020204020204" charset="-122"/>
                <a:ea typeface="微软雅黑" panose="020B0503020204020204" charset="-122"/>
                <a:cs typeface="微软雅黑" panose="020B0503020204020204" charset="-122"/>
              </a:rPr>
              <a:t> </a:t>
            </a:r>
            <a:endParaRPr sz="2400" strike="noStrike" noProof="1">
              <a:latin typeface="微软雅黑" panose="020B0503020204020204" charset="-122"/>
              <a:ea typeface="微软雅黑" panose="020B0503020204020204" charset="-122"/>
              <a:cs typeface="微软雅黑" panose="020B0503020204020204" charset="-122"/>
            </a:endParaRPr>
          </a:p>
          <a:p>
            <a:pPr>
              <a:lnSpc>
                <a:spcPct val="150000"/>
              </a:lnSpc>
            </a:pPr>
            <a:r>
              <a:rPr sz="2400" strike="noStrike" noProof="1">
                <a:latin typeface="微软雅黑" panose="020B0503020204020204" charset="-122"/>
                <a:ea typeface="微软雅黑" panose="020B0503020204020204" charset="-122"/>
                <a:cs typeface="微软雅黑" panose="020B0503020204020204" charset="-122"/>
              </a:rPr>
              <a:t>6．在微机上调试程序。 </a:t>
            </a:r>
            <a:endParaRPr sz="2400" strike="noStrike" noProof="1">
              <a:latin typeface="微软雅黑" panose="020B0503020204020204" charset="-122"/>
              <a:ea typeface="微软雅黑" panose="020B0503020204020204" charset="-122"/>
              <a:cs typeface="微软雅黑" panose="020B0503020204020204" charset="-122"/>
            </a:endParaRPr>
          </a:p>
        </p:txBody>
      </p:sp>
      <p:sp>
        <p:nvSpPr>
          <p:cNvPr id="3" name="文本框 6151"/>
          <p:cNvSpPr txBox="1"/>
          <p:nvPr/>
        </p:nvSpPr>
        <p:spPr>
          <a:xfrm>
            <a:off x="1692275" y="6309360"/>
            <a:ext cx="5759450" cy="337185"/>
          </a:xfrm>
          <a:prstGeom prst="rect">
            <a:avLst/>
          </a:prstGeom>
          <a:noFill/>
          <a:ln w="9525">
            <a:noFill/>
          </a:ln>
        </p:spPr>
        <p:txBody>
          <a:bodyPr anchor="t" anchorCtr="0">
            <a:spAutoFit/>
          </a:bodyPr>
          <a:p>
            <a:pPr algn="ctr">
              <a:spcBef>
                <a:spcPct val="50000"/>
              </a:spcBef>
            </a:pPr>
            <a:r>
              <a:rPr lang="zh-CN" altLang="en-US" sz="1600" dirty="0">
                <a:solidFill>
                  <a:srgbClr val="6E859D"/>
                </a:solidFill>
                <a:latin typeface="华文楷体" panose="02010600040101010101" pitchFamily="2" charset="-122"/>
                <a:ea typeface="华文楷体" panose="02010600040101010101" pitchFamily="2" charset="-122"/>
              </a:rPr>
              <a:t>《数字图像处理》实验</a:t>
            </a:r>
            <a:r>
              <a:rPr lang="en-US" altLang="zh-CN" sz="1600" dirty="0">
                <a:solidFill>
                  <a:srgbClr val="6E859D"/>
                </a:solidFill>
                <a:latin typeface="华文楷体" panose="02010600040101010101" pitchFamily="2" charset="-122"/>
                <a:ea typeface="华文楷体" panose="02010600040101010101" pitchFamily="2" charset="-122"/>
              </a:rPr>
              <a:t>- </a:t>
            </a:r>
            <a:r>
              <a:rPr lang="zh-CN" altLang="en-US" sz="1600" dirty="0">
                <a:solidFill>
                  <a:srgbClr val="6E859D"/>
                </a:solidFill>
                <a:latin typeface="华文楷体" panose="02010600040101010101" pitchFamily="2" charset="-122"/>
                <a:ea typeface="华文楷体" panose="02010600040101010101" pitchFamily="2" charset="-122"/>
              </a:rPr>
              <a:t>电子信息与电气工程学院</a:t>
            </a:r>
            <a:endParaRPr lang="zh-CN" altLang="en-US" sz="1600" dirty="0">
              <a:solidFill>
                <a:srgbClr val="6E859D"/>
              </a:solidFill>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39750" y="1412875"/>
            <a:ext cx="2179955" cy="521970"/>
          </a:xfrm>
          <a:prstGeom prst="rect">
            <a:avLst/>
          </a:prstGeom>
          <a:noFill/>
        </p:spPr>
        <p:txBody>
          <a:bodyPr wrap="none">
            <a:spAutoFit/>
          </a:bodyPr>
          <a:lstStyle/>
          <a:p>
            <a:pPr marR="0" defTabSz="914400">
              <a:buClrTx/>
              <a:buSzTx/>
              <a:buFontTx/>
              <a:buNone/>
              <a:defRPr/>
            </a:pPr>
            <a:r>
              <a:rPr kumimoji="0" lang="en-US" altLang="zh-CN" b="1" kern="1200" cap="none" spc="0" normalizeH="0" baseline="0" noProof="0" dirty="0">
                <a:solidFill>
                  <a:srgbClr val="FF0066"/>
                </a:solidFill>
                <a:effectLst>
                  <a:outerShdw blurRad="50800" dir="5400000" algn="tl">
                    <a:srgbClr val="000000"/>
                  </a:outerShdw>
                </a:effectLst>
                <a:latin typeface="微软雅黑" panose="020B0503020204020204" charset="-122"/>
                <a:ea typeface="微软雅黑" panose="020B0503020204020204" charset="-122"/>
                <a:cs typeface="微软雅黑" panose="020B0503020204020204" charset="-122"/>
                <a:sym typeface="+mn-ea"/>
              </a:rPr>
              <a:t>2</a:t>
            </a:r>
            <a:r>
              <a:rPr kumimoji="0" lang="zh-CN" altLang="en-US" b="1" kern="1200" cap="none" spc="0" normalizeH="0" baseline="0" noProof="0" dirty="0">
                <a:solidFill>
                  <a:srgbClr val="FF0066"/>
                </a:solidFill>
                <a:effectLst>
                  <a:outerShdw blurRad="50800" dir="5400000" algn="tl">
                    <a:srgbClr val="000000"/>
                  </a:outerShdw>
                </a:effectLst>
                <a:latin typeface="微软雅黑" panose="020B0503020204020204" charset="-122"/>
                <a:ea typeface="微软雅黑" panose="020B0503020204020204" charset="-122"/>
                <a:cs typeface="微软雅黑" panose="020B0503020204020204" charset="-122"/>
                <a:sym typeface="+mn-ea"/>
              </a:rPr>
              <a:t>、实验原理</a:t>
            </a:r>
            <a:endParaRPr kumimoji="0" lang="zh-CN" altLang="en-US" b="1" kern="1200" cap="none" spc="0" normalizeH="0" baseline="0" noProof="0" dirty="0">
              <a:solidFill>
                <a:srgbClr val="FF0066"/>
              </a:solidFill>
              <a:effectLst>
                <a:outerShdw blurRad="50800" dir="5400000" algn="tl">
                  <a:srgbClr val="000000"/>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9219" name="矩形 8"/>
          <p:cNvSpPr/>
          <p:nvPr/>
        </p:nvSpPr>
        <p:spPr>
          <a:xfrm>
            <a:off x="539750" y="2307908"/>
            <a:ext cx="7040563" cy="460375"/>
          </a:xfrm>
          <a:prstGeom prst="rect">
            <a:avLst/>
          </a:prstGeom>
          <a:noFill/>
          <a:ln w="9525">
            <a:noFill/>
          </a:ln>
        </p:spPr>
        <p:txBody>
          <a:bodyPr anchor="t" anchorCtr="0">
            <a:spAutoFit/>
          </a:bodyPr>
          <a:lstStyle/>
          <a:p>
            <a:r>
              <a:rPr lang="en-US" altLang="zh-CN" sz="2400" dirty="0">
                <a:latin typeface="微软雅黑" panose="020B0503020204020204" charset="-122"/>
                <a:ea typeface="微软雅黑" panose="020B0503020204020204" charset="-122"/>
              </a:rPr>
              <a:t>2.1</a:t>
            </a:r>
            <a:r>
              <a:rPr lang="zh-CN" altLang="en-US" sz="2400" dirty="0">
                <a:latin typeface="微软雅黑" panose="020B0503020204020204" charset="-122"/>
                <a:ea typeface="微软雅黑" panose="020B0503020204020204" charset="-122"/>
              </a:rPr>
              <a:t>、图像的打开与存储 </a:t>
            </a:r>
            <a:endParaRPr lang="zh-CN" altLang="en-US" sz="2400" dirty="0">
              <a:latin typeface="微软雅黑" panose="020B0503020204020204" charset="-122"/>
              <a:ea typeface="微软雅黑" panose="020B0503020204020204" charset="-122"/>
            </a:endParaRPr>
          </a:p>
        </p:txBody>
      </p:sp>
      <p:sp>
        <p:nvSpPr>
          <p:cNvPr id="9220" name="文本框 38918"/>
          <p:cNvSpPr txBox="1"/>
          <p:nvPr/>
        </p:nvSpPr>
        <p:spPr>
          <a:xfrm>
            <a:off x="611188" y="3141345"/>
            <a:ext cx="7923212" cy="1753235"/>
          </a:xfrm>
          <a:prstGeom prst="rect">
            <a:avLst/>
          </a:prstGeom>
          <a:noFill/>
          <a:ln w="9525">
            <a:noFill/>
          </a:ln>
        </p:spPr>
        <p:txBody>
          <a:bodyPr wrap="square" anchor="t" anchorCtr="0">
            <a:spAutoFit/>
          </a:bodyPr>
          <a:lstStyle/>
          <a:p>
            <a:pPr>
              <a:lnSpc>
                <a:spcPct val="150000"/>
              </a:lnSpc>
            </a:pPr>
            <a:r>
              <a:rPr lang="zh-CN" sz="2400" dirty="0">
                <a:latin typeface="Times New Roman" panose="02020603050405020304" pitchFamily="18" charset="0"/>
                <a:ea typeface="微软雅黑" panose="020B0503020204020204" charset="-122"/>
                <a:cs typeface="Times New Roman" panose="02020603050405020304" pitchFamily="18" charset="0"/>
                <a:sym typeface="+mn-ea"/>
              </a:rPr>
              <a:t>在</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Matlab</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mn-ea"/>
              </a:rPr>
              <a:t>中，有图像读取、显示、存储等操作的相关函数，分别为</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imread</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imshow</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mn-ea"/>
              </a:rPr>
              <a:t>和</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imwrite</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mn-ea"/>
              </a:rPr>
              <a:t>，这些函数能对</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BMP</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mn-ea"/>
              </a:rPr>
              <a:t>图像进行相应的操作。</a:t>
            </a:r>
            <a:endParaRPr lang="zh-CN" altLang="en-US" sz="2400" dirty="0">
              <a:latin typeface="Times New Roman" panose="02020603050405020304" pitchFamily="18" charset="0"/>
              <a:ea typeface="微软雅黑" panose="020B0503020204020204" charset="-122"/>
              <a:cs typeface="Times New Roman" panose="02020603050405020304" pitchFamily="18" charset="0"/>
            </a:endParaRPr>
          </a:p>
        </p:txBody>
      </p:sp>
      <p:sp>
        <p:nvSpPr>
          <p:cNvPr id="33795" name="矩形 33794"/>
          <p:cNvSpPr/>
          <p:nvPr/>
        </p:nvSpPr>
        <p:spPr>
          <a:xfrm>
            <a:off x="570230" y="476885"/>
            <a:ext cx="8284845" cy="609600"/>
          </a:xfrm>
          <a:prstGeom prst="rect">
            <a:avLst/>
          </a:prstGeom>
          <a:noFill/>
          <a:ln w="12700">
            <a:noFill/>
          </a:ln>
          <a:effectLst>
            <a:outerShdw blurRad="50800" dist="38100" dir="2700000" algn="tl" rotWithShape="0">
              <a:prstClr val="black">
                <a:alpha val="40000"/>
              </a:prstClr>
            </a:outerShdw>
          </a:effectLst>
        </p:spPr>
        <p:txBody>
          <a:bodyPr/>
          <a:p>
            <a:pPr marL="457200" marR="0" lvl="0" indent="-457200" algn="l" defTabSz="914400" rtl="0" eaLnBrk="1" fontAlgn="base" latinLnBrk="0" hangingPunct="1">
              <a:lnSpc>
                <a:spcPct val="120000"/>
              </a:lnSpc>
              <a:spcBef>
                <a:spcPct val="20000"/>
              </a:spcBef>
              <a:spcAft>
                <a:spcPct val="0"/>
              </a:spcAft>
              <a:buClr>
                <a:schemeClr val="tx2"/>
              </a:buClr>
              <a:buSzPct val="90000"/>
              <a:buFont typeface="Symbol" panose="05050102010706020507" pitchFamily="18" charset="2"/>
              <a:buNone/>
              <a:defRPr/>
            </a:pPr>
            <a:r>
              <a:rPr kumimoji="0" lang="zh-CN" b="1" i="0" u="none" strike="noStrike" kern="1200" cap="none" spc="0" normalizeH="0" baseline="0" noProof="1">
                <a:ln>
                  <a:noFill/>
                </a:ln>
                <a:solidFill>
                  <a:srgbClr val="002060"/>
                </a:solidFill>
                <a:effectLst/>
                <a:uLnTx/>
                <a:uFillTx/>
                <a:latin typeface="微软雅黑" panose="020B0503020204020204" charset="-122"/>
                <a:ea typeface="微软雅黑" panose="020B0503020204020204" charset="-122"/>
                <a:cs typeface="微软雅黑" panose="020B0503020204020204" charset="-122"/>
              </a:rPr>
              <a:t>实验一</a:t>
            </a:r>
            <a:r>
              <a:rPr kumimoji="0" lang="en-US" altLang="zh-CN" b="1" i="0" u="none" strike="noStrike" kern="1200" cap="none" spc="0" normalizeH="0" baseline="0" noProof="1">
                <a:ln>
                  <a:noFill/>
                </a:ln>
                <a:solidFill>
                  <a:srgbClr val="002060"/>
                </a:solidFill>
                <a:effectLst/>
                <a:uLnTx/>
                <a:uFillTx/>
                <a:latin typeface="微软雅黑" panose="020B0503020204020204" charset="-122"/>
                <a:ea typeface="微软雅黑" panose="020B0503020204020204" charset="-122"/>
                <a:cs typeface="微软雅黑" panose="020B0503020204020204" charset="-122"/>
              </a:rPr>
              <a:t> </a:t>
            </a:r>
            <a:r>
              <a:rPr kumimoji="0" lang="zh-CN" b="1" i="0" u="none" strike="noStrike" kern="1200" cap="none" spc="0" normalizeH="0" baseline="0" noProof="1">
                <a:ln>
                  <a:noFill/>
                </a:ln>
                <a:solidFill>
                  <a:srgbClr val="002060"/>
                </a:solidFill>
                <a:effectLst/>
                <a:uLnTx/>
                <a:uFillTx/>
                <a:latin typeface="微软雅黑" panose="020B0503020204020204" charset="-122"/>
                <a:ea typeface="微软雅黑" panose="020B0503020204020204" charset="-122"/>
                <a:cs typeface="微软雅黑" panose="020B0503020204020204" charset="-122"/>
              </a:rPr>
              <a:t>数字图像的输入、输出、显示、直方图统计</a:t>
            </a:r>
            <a:endParaRPr kumimoji="0" lang="zh-CN" b="1" i="0" u="none" strike="noStrike" kern="1200" cap="none" spc="0" normalizeH="0" baseline="0" noProof="1">
              <a:ln>
                <a:noFill/>
              </a:ln>
              <a:solidFill>
                <a:srgbClr val="002060"/>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 name="文本框 6151"/>
          <p:cNvSpPr txBox="1"/>
          <p:nvPr/>
        </p:nvSpPr>
        <p:spPr>
          <a:xfrm>
            <a:off x="1692275" y="6309360"/>
            <a:ext cx="5759450" cy="337185"/>
          </a:xfrm>
          <a:prstGeom prst="rect">
            <a:avLst/>
          </a:prstGeom>
          <a:noFill/>
          <a:ln w="9525">
            <a:noFill/>
          </a:ln>
        </p:spPr>
        <p:txBody>
          <a:bodyPr anchor="t" anchorCtr="0">
            <a:spAutoFit/>
          </a:bodyPr>
          <a:p>
            <a:pPr algn="ctr">
              <a:spcBef>
                <a:spcPct val="50000"/>
              </a:spcBef>
            </a:pPr>
            <a:r>
              <a:rPr lang="zh-CN" altLang="en-US" sz="1600" dirty="0">
                <a:solidFill>
                  <a:srgbClr val="6E859D"/>
                </a:solidFill>
                <a:latin typeface="华文楷体" panose="02010600040101010101" pitchFamily="2" charset="-122"/>
                <a:ea typeface="华文楷体" panose="02010600040101010101" pitchFamily="2" charset="-122"/>
              </a:rPr>
              <a:t>《数字图像处理》实验</a:t>
            </a:r>
            <a:r>
              <a:rPr lang="en-US" altLang="zh-CN" sz="1600" dirty="0">
                <a:solidFill>
                  <a:srgbClr val="6E859D"/>
                </a:solidFill>
                <a:latin typeface="华文楷体" panose="02010600040101010101" pitchFamily="2" charset="-122"/>
                <a:ea typeface="华文楷体" panose="02010600040101010101" pitchFamily="2" charset="-122"/>
              </a:rPr>
              <a:t>- </a:t>
            </a:r>
            <a:r>
              <a:rPr lang="zh-CN" altLang="en-US" sz="1600" dirty="0">
                <a:solidFill>
                  <a:srgbClr val="6E859D"/>
                </a:solidFill>
                <a:latin typeface="华文楷体" panose="02010600040101010101" pitchFamily="2" charset="-122"/>
                <a:ea typeface="华文楷体" panose="02010600040101010101" pitchFamily="2" charset="-122"/>
              </a:rPr>
              <a:t>电子信息与电气工程学院</a:t>
            </a:r>
            <a:endParaRPr lang="zh-CN" altLang="en-US" sz="1600" dirty="0">
              <a:solidFill>
                <a:srgbClr val="6E859D"/>
              </a:solidFill>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220">
                                            <p:txEl>
                                              <p:charRg st="0" end="0"/>
                                            </p:txEl>
                                          </p:spTgt>
                                        </p:tgtEl>
                                        <p:attrNameLst>
                                          <p:attrName>style.visibility</p:attrName>
                                        </p:attrNameLst>
                                      </p:cBhvr>
                                      <p:to>
                                        <p:strVal val="visible"/>
                                      </p:to>
                                    </p:set>
                                    <p:animEffect transition="in" filter="blinds(horizontal)">
                                      <p:cBhvr>
                                        <p:cTn id="7" dur="500"/>
                                        <p:tgtEl>
                                          <p:spTgt spid="9220">
                                            <p:txEl>
                                              <p:char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39750" y="1341438"/>
            <a:ext cx="2179955" cy="521970"/>
          </a:xfrm>
          <a:prstGeom prst="rect">
            <a:avLst/>
          </a:prstGeom>
          <a:noFill/>
        </p:spPr>
        <p:txBody>
          <a:bodyPr wrap="none">
            <a:spAutoFit/>
          </a:bodyPr>
          <a:lstStyle/>
          <a:p>
            <a:pPr marR="0" defTabSz="914400">
              <a:buClrTx/>
              <a:buSzTx/>
              <a:buFontTx/>
              <a:buNone/>
              <a:defRPr/>
            </a:pPr>
            <a:r>
              <a:rPr kumimoji="0" lang="en-US" altLang="zh-CN" b="1" kern="1200" cap="none" spc="0" normalizeH="0" baseline="0" noProof="0" dirty="0">
                <a:solidFill>
                  <a:srgbClr val="FF0066"/>
                </a:solidFill>
                <a:effectLst>
                  <a:outerShdw blurRad="50800" dir="5400000" algn="tl">
                    <a:srgbClr val="000000"/>
                  </a:outerShdw>
                </a:effectLst>
                <a:latin typeface="微软雅黑" panose="020B0503020204020204" charset="-122"/>
                <a:ea typeface="微软雅黑" panose="020B0503020204020204" charset="-122"/>
                <a:cs typeface="微软雅黑" panose="020B0503020204020204" charset="-122"/>
                <a:sym typeface="+mn-ea"/>
              </a:rPr>
              <a:t>2</a:t>
            </a:r>
            <a:r>
              <a:rPr kumimoji="0" lang="zh-CN" altLang="en-US" b="1" kern="1200" cap="none" spc="0" normalizeH="0" baseline="0" noProof="0" dirty="0">
                <a:solidFill>
                  <a:srgbClr val="FF0066"/>
                </a:solidFill>
                <a:effectLst>
                  <a:outerShdw blurRad="50800" dir="5400000" algn="tl">
                    <a:srgbClr val="000000"/>
                  </a:outerShdw>
                </a:effectLst>
                <a:latin typeface="微软雅黑" panose="020B0503020204020204" charset="-122"/>
                <a:ea typeface="微软雅黑" panose="020B0503020204020204" charset="-122"/>
                <a:cs typeface="微软雅黑" panose="020B0503020204020204" charset="-122"/>
                <a:sym typeface="+mn-ea"/>
              </a:rPr>
              <a:t>、实验原理</a:t>
            </a:r>
            <a:endParaRPr kumimoji="0" lang="zh-CN" altLang="en-US" b="1" kern="1200" cap="none" spc="0" normalizeH="0" baseline="0" noProof="0" dirty="0">
              <a:solidFill>
                <a:srgbClr val="FF0066"/>
              </a:solidFill>
              <a:effectLst>
                <a:outerShdw blurRad="50800" dir="5400000" algn="tl">
                  <a:srgbClr val="000000"/>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10243" name="矩形 8"/>
          <p:cNvSpPr/>
          <p:nvPr/>
        </p:nvSpPr>
        <p:spPr>
          <a:xfrm>
            <a:off x="539750" y="2132648"/>
            <a:ext cx="7040563" cy="460375"/>
          </a:xfrm>
          <a:prstGeom prst="rect">
            <a:avLst/>
          </a:prstGeom>
          <a:noFill/>
          <a:ln w="9525">
            <a:noFill/>
          </a:ln>
        </p:spPr>
        <p:txBody>
          <a:bodyPr anchor="t" anchorCtr="0">
            <a:spAutoFit/>
          </a:bodyPr>
          <a:lstStyle/>
          <a:p>
            <a:r>
              <a:rPr lang="en-US" altLang="zh-CN" sz="2400" dirty="0">
                <a:latin typeface="微软雅黑" panose="020B0503020204020204" charset="-122"/>
                <a:ea typeface="微软雅黑" panose="020B0503020204020204" charset="-122"/>
              </a:rPr>
              <a:t>2.2</a:t>
            </a:r>
            <a:r>
              <a:rPr lang="zh-CN" altLang="en-US" sz="2400" dirty="0">
                <a:latin typeface="微软雅黑" panose="020B0503020204020204" charset="-122"/>
                <a:ea typeface="微软雅黑" panose="020B0503020204020204" charset="-122"/>
              </a:rPr>
              <a:t>、图像的直方图</a:t>
            </a:r>
            <a:endParaRPr lang="zh-CN" altLang="en-US" sz="2400" dirty="0">
              <a:latin typeface="微软雅黑" panose="020B0503020204020204" charset="-122"/>
              <a:ea typeface="微软雅黑" panose="020B0503020204020204" charset="-122"/>
            </a:endParaRPr>
          </a:p>
        </p:txBody>
      </p:sp>
      <p:sp>
        <p:nvSpPr>
          <p:cNvPr id="10244" name="文本框 38918"/>
          <p:cNvSpPr txBox="1"/>
          <p:nvPr/>
        </p:nvSpPr>
        <p:spPr>
          <a:xfrm>
            <a:off x="622300" y="2781300"/>
            <a:ext cx="7899400" cy="2861310"/>
          </a:xfrm>
          <a:prstGeom prst="rect">
            <a:avLst/>
          </a:prstGeom>
          <a:noFill/>
          <a:ln w="9525">
            <a:noFill/>
          </a:ln>
        </p:spPr>
        <p:txBody>
          <a:bodyPr wrap="square" anchor="t" anchorCtr="0">
            <a:spAutoFit/>
          </a:bodyPr>
          <a:lstStyle/>
          <a:p>
            <a:pPr>
              <a:lnSpc>
                <a:spcPct val="150000"/>
              </a:lnSpc>
            </a:pPr>
            <a:r>
              <a:rPr lang="zh-CN" altLang="en-US" sz="2400" noProof="0" dirty="0">
                <a:solidFill>
                  <a:srgbClr val="FF0066"/>
                </a:solidFill>
                <a:effectLst/>
                <a:latin typeface="微软雅黑" panose="020B0503020204020204" charset="-122"/>
                <a:ea typeface="微软雅黑" panose="020B0503020204020204" charset="-122"/>
                <a:cs typeface="微软雅黑" panose="020B0503020204020204" charset="-122"/>
                <a:sym typeface="+mn-ea"/>
              </a:rPr>
              <a:t>直方图</a:t>
            </a:r>
            <a:r>
              <a:rPr lang="zh-CN" sz="2400" dirty="0">
                <a:latin typeface="Times New Roman" panose="02020603050405020304" pitchFamily="18" charset="0"/>
                <a:ea typeface="微软雅黑" panose="020B0503020204020204" charset="-122"/>
                <a:cs typeface="Times New Roman" panose="02020603050405020304" pitchFamily="18" charset="0"/>
              </a:rPr>
              <a:t>是图像的最基本的统计特征，它反映的是图像的灰度值的分布情况。直方图均衡化的目的是使图像在整个灰度值动态变化范围内的分布均匀化，改善图像的亮度分布状态，增强图像的视觉效果。灰度直方图是图像预处理中涉及最广泛的基本概念之一。 </a:t>
            </a:r>
            <a:endParaRPr lang="zh-CN" sz="2400" dirty="0">
              <a:latin typeface="Times New Roman" panose="02020603050405020304" pitchFamily="18" charset="0"/>
              <a:ea typeface="微软雅黑" panose="020B0503020204020204" charset="-122"/>
              <a:cs typeface="Times New Roman" panose="02020603050405020304" pitchFamily="18" charset="0"/>
            </a:endParaRPr>
          </a:p>
        </p:txBody>
      </p:sp>
      <p:sp>
        <p:nvSpPr>
          <p:cNvPr id="33795" name="矩形 33794"/>
          <p:cNvSpPr/>
          <p:nvPr/>
        </p:nvSpPr>
        <p:spPr>
          <a:xfrm>
            <a:off x="570230" y="476885"/>
            <a:ext cx="8284845" cy="609600"/>
          </a:xfrm>
          <a:prstGeom prst="rect">
            <a:avLst/>
          </a:prstGeom>
          <a:noFill/>
          <a:ln w="12700">
            <a:noFill/>
          </a:ln>
          <a:effectLst>
            <a:outerShdw blurRad="50800" dist="38100" dir="2700000" algn="tl" rotWithShape="0">
              <a:prstClr val="black">
                <a:alpha val="40000"/>
              </a:prstClr>
            </a:outerShdw>
          </a:effectLst>
        </p:spPr>
        <p:txBody>
          <a:bodyPr/>
          <a:p>
            <a:pPr marL="457200" marR="0" lvl="0" indent="-457200" algn="l" defTabSz="914400" rtl="0" eaLnBrk="1" fontAlgn="base" latinLnBrk="0" hangingPunct="1">
              <a:lnSpc>
                <a:spcPct val="120000"/>
              </a:lnSpc>
              <a:spcBef>
                <a:spcPct val="20000"/>
              </a:spcBef>
              <a:spcAft>
                <a:spcPct val="0"/>
              </a:spcAft>
              <a:buClr>
                <a:schemeClr val="tx2"/>
              </a:buClr>
              <a:buSzPct val="90000"/>
              <a:buFont typeface="Symbol" panose="05050102010706020507" pitchFamily="18" charset="2"/>
              <a:buNone/>
              <a:defRPr/>
            </a:pPr>
            <a:r>
              <a:rPr kumimoji="0" lang="zh-CN" b="1" i="0" u="none" strike="noStrike" kern="1200" cap="none" spc="0" normalizeH="0" baseline="0" noProof="1">
                <a:ln>
                  <a:noFill/>
                </a:ln>
                <a:solidFill>
                  <a:srgbClr val="002060"/>
                </a:solidFill>
                <a:effectLst/>
                <a:uLnTx/>
                <a:uFillTx/>
                <a:latin typeface="微软雅黑" panose="020B0503020204020204" charset="-122"/>
                <a:ea typeface="微软雅黑" panose="020B0503020204020204" charset="-122"/>
                <a:cs typeface="微软雅黑" panose="020B0503020204020204" charset="-122"/>
              </a:rPr>
              <a:t>实验一</a:t>
            </a:r>
            <a:r>
              <a:rPr kumimoji="0" lang="en-US" altLang="zh-CN" b="1" i="0" u="none" strike="noStrike" kern="1200" cap="none" spc="0" normalizeH="0" baseline="0" noProof="1">
                <a:ln>
                  <a:noFill/>
                </a:ln>
                <a:solidFill>
                  <a:srgbClr val="002060"/>
                </a:solidFill>
                <a:effectLst/>
                <a:uLnTx/>
                <a:uFillTx/>
                <a:latin typeface="微软雅黑" panose="020B0503020204020204" charset="-122"/>
                <a:ea typeface="微软雅黑" panose="020B0503020204020204" charset="-122"/>
                <a:cs typeface="微软雅黑" panose="020B0503020204020204" charset="-122"/>
              </a:rPr>
              <a:t> </a:t>
            </a:r>
            <a:r>
              <a:rPr kumimoji="0" lang="zh-CN" b="1" i="0" u="none" strike="noStrike" kern="1200" cap="none" spc="0" normalizeH="0" baseline="0" noProof="1">
                <a:ln>
                  <a:noFill/>
                </a:ln>
                <a:solidFill>
                  <a:srgbClr val="002060"/>
                </a:solidFill>
                <a:effectLst/>
                <a:uLnTx/>
                <a:uFillTx/>
                <a:latin typeface="微软雅黑" panose="020B0503020204020204" charset="-122"/>
                <a:ea typeface="微软雅黑" panose="020B0503020204020204" charset="-122"/>
                <a:cs typeface="微软雅黑" panose="020B0503020204020204" charset="-122"/>
              </a:rPr>
              <a:t>数字图像的输入、输出、显示、直方图统计</a:t>
            </a:r>
            <a:endParaRPr kumimoji="0" lang="zh-CN" b="1" i="0" u="none" strike="noStrike" kern="1200" cap="none" spc="0" normalizeH="0" baseline="0" noProof="1">
              <a:ln>
                <a:noFill/>
              </a:ln>
              <a:solidFill>
                <a:srgbClr val="002060"/>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075" name="文本框 6151"/>
          <p:cNvSpPr txBox="1"/>
          <p:nvPr/>
        </p:nvSpPr>
        <p:spPr>
          <a:xfrm>
            <a:off x="1692275" y="6309360"/>
            <a:ext cx="5759450" cy="337185"/>
          </a:xfrm>
          <a:prstGeom prst="rect">
            <a:avLst/>
          </a:prstGeom>
          <a:noFill/>
          <a:ln w="9525">
            <a:noFill/>
          </a:ln>
        </p:spPr>
        <p:txBody>
          <a:bodyPr anchor="t" anchorCtr="0">
            <a:spAutoFit/>
          </a:bodyPr>
          <a:p>
            <a:pPr algn="ctr">
              <a:spcBef>
                <a:spcPct val="50000"/>
              </a:spcBef>
            </a:pPr>
            <a:r>
              <a:rPr lang="zh-CN" altLang="en-US" sz="1600" dirty="0">
                <a:solidFill>
                  <a:srgbClr val="6E859D"/>
                </a:solidFill>
                <a:latin typeface="华文楷体" panose="02010600040101010101" pitchFamily="2" charset="-122"/>
                <a:ea typeface="华文楷体" panose="02010600040101010101" pitchFamily="2" charset="-122"/>
              </a:rPr>
              <a:t>《数字图像处理》实验</a:t>
            </a:r>
            <a:r>
              <a:rPr lang="en-US" altLang="zh-CN" sz="1600" dirty="0">
                <a:solidFill>
                  <a:srgbClr val="6E859D"/>
                </a:solidFill>
                <a:latin typeface="华文楷体" panose="02010600040101010101" pitchFamily="2" charset="-122"/>
                <a:ea typeface="华文楷体" panose="02010600040101010101" pitchFamily="2" charset="-122"/>
              </a:rPr>
              <a:t>- </a:t>
            </a:r>
            <a:r>
              <a:rPr lang="zh-CN" altLang="en-US" sz="1600" dirty="0">
                <a:solidFill>
                  <a:srgbClr val="6E859D"/>
                </a:solidFill>
                <a:latin typeface="华文楷体" panose="02010600040101010101" pitchFamily="2" charset="-122"/>
                <a:ea typeface="华文楷体" panose="02010600040101010101" pitchFamily="2" charset="-122"/>
              </a:rPr>
              <a:t>电子信息与电气工程学院</a:t>
            </a:r>
            <a:endParaRPr lang="zh-CN" altLang="en-US" sz="1600" dirty="0">
              <a:solidFill>
                <a:srgbClr val="6E859D"/>
              </a:solidFill>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244">
                                            <p:txEl>
                                              <p:pRg st="0" end="0"/>
                                            </p:txEl>
                                          </p:spTgt>
                                        </p:tgtEl>
                                        <p:attrNameLst>
                                          <p:attrName>style.visibility</p:attrName>
                                        </p:attrNameLst>
                                      </p:cBhvr>
                                      <p:to>
                                        <p:strVal val="visible"/>
                                      </p:to>
                                    </p:set>
                                    <p:animEffect transition="in" filter="blinds(horizontal)">
                                      <p:cBhvr>
                                        <p:cTn id="7" dur="500"/>
                                        <p:tgtEl>
                                          <p:spTgt spid="1024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39750" y="1268413"/>
            <a:ext cx="2179955" cy="521970"/>
          </a:xfrm>
          <a:prstGeom prst="rect">
            <a:avLst/>
          </a:prstGeom>
          <a:noFill/>
        </p:spPr>
        <p:txBody>
          <a:bodyPr wrap="none">
            <a:spAutoFit/>
          </a:bodyPr>
          <a:lstStyle/>
          <a:p>
            <a:pPr marR="0" defTabSz="914400">
              <a:buClrTx/>
              <a:buSzTx/>
              <a:buFontTx/>
              <a:buNone/>
              <a:defRPr/>
            </a:pPr>
            <a:r>
              <a:rPr kumimoji="0" lang="en-US" altLang="zh-CN" b="1" kern="1200" cap="none" spc="0" normalizeH="0" baseline="0" noProof="0" dirty="0">
                <a:solidFill>
                  <a:srgbClr val="FF0066"/>
                </a:solidFill>
                <a:effectLst>
                  <a:outerShdw blurRad="50800" dir="5400000" algn="tl">
                    <a:srgbClr val="000000"/>
                  </a:outerShdw>
                </a:effectLst>
                <a:latin typeface="微软雅黑" panose="020B0503020204020204" charset="-122"/>
                <a:ea typeface="微软雅黑" panose="020B0503020204020204" charset="-122"/>
                <a:cs typeface="微软雅黑" panose="020B0503020204020204" charset="-122"/>
                <a:sym typeface="+mn-ea"/>
              </a:rPr>
              <a:t>2</a:t>
            </a:r>
            <a:r>
              <a:rPr kumimoji="0" lang="zh-CN" altLang="en-US" b="1" kern="1200" cap="none" spc="0" normalizeH="0" baseline="0" noProof="0" dirty="0">
                <a:solidFill>
                  <a:srgbClr val="FF0066"/>
                </a:solidFill>
                <a:effectLst>
                  <a:outerShdw blurRad="50800" dir="5400000" algn="tl">
                    <a:srgbClr val="000000"/>
                  </a:outerShdw>
                </a:effectLst>
                <a:latin typeface="微软雅黑" panose="020B0503020204020204" charset="-122"/>
                <a:ea typeface="微软雅黑" panose="020B0503020204020204" charset="-122"/>
                <a:cs typeface="微软雅黑" panose="020B0503020204020204" charset="-122"/>
                <a:sym typeface="+mn-ea"/>
              </a:rPr>
              <a:t>、实验原理</a:t>
            </a:r>
            <a:endParaRPr kumimoji="0" lang="zh-CN" altLang="en-US" b="1" kern="1200" cap="none" spc="0" normalizeH="0" baseline="0" noProof="0" dirty="0">
              <a:solidFill>
                <a:srgbClr val="FF0066"/>
              </a:solidFill>
              <a:effectLst>
                <a:outerShdw blurRad="50800" dir="5400000" algn="tl">
                  <a:srgbClr val="000000"/>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10243" name="矩形 8"/>
          <p:cNvSpPr/>
          <p:nvPr/>
        </p:nvSpPr>
        <p:spPr>
          <a:xfrm>
            <a:off x="539750" y="1844358"/>
            <a:ext cx="7040563" cy="460375"/>
          </a:xfrm>
          <a:prstGeom prst="rect">
            <a:avLst/>
          </a:prstGeom>
          <a:noFill/>
          <a:ln w="9525">
            <a:noFill/>
          </a:ln>
        </p:spPr>
        <p:txBody>
          <a:bodyPr anchor="t" anchorCtr="0">
            <a:spAutoFit/>
          </a:bodyPr>
          <a:lstStyle/>
          <a:p>
            <a:r>
              <a:rPr lang="en-US" altLang="zh-CN" sz="2400" dirty="0">
                <a:latin typeface="微软雅黑" panose="020B0503020204020204" charset="-122"/>
                <a:ea typeface="微软雅黑" panose="020B0503020204020204" charset="-122"/>
              </a:rPr>
              <a:t>2.2</a:t>
            </a:r>
            <a:r>
              <a:rPr lang="zh-CN" altLang="en-US" sz="2400" dirty="0">
                <a:latin typeface="微软雅黑" panose="020B0503020204020204" charset="-122"/>
                <a:ea typeface="微软雅黑" panose="020B0503020204020204" charset="-122"/>
              </a:rPr>
              <a:t>、图像的直方图</a:t>
            </a:r>
            <a:endParaRPr lang="zh-CN" altLang="en-US" sz="2400" dirty="0">
              <a:latin typeface="微软雅黑" panose="020B0503020204020204" charset="-122"/>
              <a:ea typeface="微软雅黑" panose="020B0503020204020204" charset="-122"/>
            </a:endParaRPr>
          </a:p>
        </p:txBody>
      </p:sp>
      <p:sp>
        <p:nvSpPr>
          <p:cNvPr id="10244" name="文本框 38918"/>
          <p:cNvSpPr txBox="1"/>
          <p:nvPr/>
        </p:nvSpPr>
        <p:spPr>
          <a:xfrm>
            <a:off x="467360" y="2204720"/>
            <a:ext cx="8263890" cy="3969385"/>
          </a:xfrm>
          <a:prstGeom prst="rect">
            <a:avLst/>
          </a:prstGeom>
          <a:noFill/>
          <a:ln w="9525">
            <a:noFill/>
          </a:ln>
        </p:spPr>
        <p:txBody>
          <a:bodyPr wrap="square" anchor="t" anchorCtr="0">
            <a:spAutoFit/>
          </a:bodyPr>
          <a:lstStyle/>
          <a:p>
            <a:pPr>
              <a:lnSpc>
                <a:spcPct val="150000"/>
              </a:lnSpc>
            </a:pPr>
            <a:r>
              <a:rPr lang="zh-CN" sz="2400" dirty="0">
                <a:latin typeface="Times New Roman" panose="02020603050405020304" pitchFamily="18" charset="0"/>
                <a:ea typeface="微软雅黑" panose="020B0503020204020204" charset="-122"/>
                <a:cs typeface="Times New Roman" panose="02020603050405020304" pitchFamily="18" charset="0"/>
              </a:rPr>
              <a:t>图像的（灰度统计）直方图是一个一维的离散函数。它的定义为： </a:t>
            </a:r>
            <a:endParaRPr lang="zh-CN" sz="2400" dirty="0">
              <a:latin typeface="Times New Roman" panose="02020603050405020304" pitchFamily="18" charset="0"/>
              <a:ea typeface="微软雅黑" panose="020B0503020204020204" charset="-122"/>
              <a:cs typeface="Times New Roman" panose="02020603050405020304" pitchFamily="18" charset="0"/>
            </a:endParaRPr>
          </a:p>
          <a:p>
            <a:pPr>
              <a:lnSpc>
                <a:spcPct val="150000"/>
              </a:lnSpc>
            </a:pPr>
            <a:r>
              <a:rPr lang="zh-CN" sz="2400" dirty="0">
                <a:latin typeface="Times New Roman" panose="02020603050405020304" pitchFamily="18" charset="0"/>
                <a:ea typeface="微软雅黑" panose="020B0503020204020204" charset="-122"/>
                <a:cs typeface="Times New Roman" panose="02020603050405020304" pitchFamily="18" charset="0"/>
              </a:rPr>
              <a:t>设</a:t>
            </a:r>
            <a:r>
              <a:rPr lang="zh-CN" sz="2400" i="1" dirty="0">
                <a:latin typeface="Times New Roman" panose="02020603050405020304" pitchFamily="18" charset="0"/>
                <a:ea typeface="微软雅黑" panose="020B0503020204020204" charset="-122"/>
                <a:cs typeface="Times New Roman" panose="02020603050405020304" pitchFamily="18" charset="0"/>
              </a:rPr>
              <a:t>s</a:t>
            </a:r>
            <a:r>
              <a:rPr lang="zh-CN" sz="2400" i="1" baseline="-25000" dirty="0">
                <a:latin typeface="Times New Roman" panose="02020603050405020304" pitchFamily="18" charset="0"/>
                <a:ea typeface="微软雅黑" panose="020B0503020204020204" charset="-122"/>
                <a:cs typeface="Times New Roman" panose="02020603050405020304" pitchFamily="18" charset="0"/>
              </a:rPr>
              <a:t>k</a:t>
            </a:r>
            <a:r>
              <a:rPr lang="zh-CN" sz="2400" dirty="0">
                <a:latin typeface="Times New Roman" panose="02020603050405020304" pitchFamily="18" charset="0"/>
                <a:ea typeface="微软雅黑" panose="020B0503020204020204" charset="-122"/>
                <a:cs typeface="Times New Roman" panose="02020603050405020304" pitchFamily="18" charset="0"/>
              </a:rPr>
              <a:t>为图像</a:t>
            </a:r>
            <a:r>
              <a:rPr lang="zh-CN" sz="2400" i="1" dirty="0">
                <a:latin typeface="Times New Roman" panose="02020603050405020304" pitchFamily="18" charset="0"/>
                <a:ea typeface="微软雅黑" panose="020B0503020204020204" charset="-122"/>
                <a:cs typeface="Times New Roman" panose="02020603050405020304" pitchFamily="18" charset="0"/>
              </a:rPr>
              <a:t>f</a:t>
            </a:r>
            <a:r>
              <a:rPr lang="zh-CN" sz="2400" dirty="0">
                <a:latin typeface="Times New Roman" panose="02020603050405020304" pitchFamily="18" charset="0"/>
                <a:ea typeface="微软雅黑" panose="020B0503020204020204" charset="-122"/>
                <a:cs typeface="Times New Roman" panose="02020603050405020304" pitchFamily="18" charset="0"/>
              </a:rPr>
              <a:t>(</a:t>
            </a:r>
            <a:r>
              <a:rPr lang="zh-CN" sz="2400" i="1" dirty="0">
                <a:latin typeface="Times New Roman" panose="02020603050405020304" pitchFamily="18" charset="0"/>
                <a:ea typeface="微软雅黑" panose="020B0503020204020204" charset="-122"/>
                <a:cs typeface="Times New Roman" panose="02020603050405020304" pitchFamily="18" charset="0"/>
              </a:rPr>
              <a:t>x</a:t>
            </a:r>
            <a:r>
              <a:rPr lang="zh-CN" sz="2400" dirty="0">
                <a:latin typeface="Times New Roman" panose="02020603050405020304" pitchFamily="18" charset="0"/>
                <a:ea typeface="微软雅黑" panose="020B0503020204020204" charset="-122"/>
                <a:cs typeface="Times New Roman" panose="02020603050405020304" pitchFamily="18" charset="0"/>
              </a:rPr>
              <a:t>，</a:t>
            </a:r>
            <a:r>
              <a:rPr lang="zh-CN" sz="2400" i="1" dirty="0">
                <a:latin typeface="Times New Roman" panose="02020603050405020304" pitchFamily="18" charset="0"/>
                <a:ea typeface="微软雅黑" panose="020B0503020204020204" charset="-122"/>
                <a:cs typeface="Times New Roman" panose="02020603050405020304" pitchFamily="18" charset="0"/>
              </a:rPr>
              <a:t>y</a:t>
            </a:r>
            <a:r>
              <a:rPr lang="zh-CN" sz="2400" dirty="0">
                <a:latin typeface="Times New Roman" panose="02020603050405020304" pitchFamily="18" charset="0"/>
                <a:ea typeface="微软雅黑" panose="020B0503020204020204" charset="-122"/>
                <a:cs typeface="Times New Roman" panose="02020603050405020304" pitchFamily="18" charset="0"/>
              </a:rPr>
              <a:t>)的第 </a:t>
            </a:r>
            <a:r>
              <a:rPr lang="zh-CN" sz="2400" i="1" dirty="0">
                <a:latin typeface="Times New Roman" panose="02020603050405020304" pitchFamily="18" charset="0"/>
                <a:ea typeface="微软雅黑" panose="020B0503020204020204" charset="-122"/>
                <a:cs typeface="Times New Roman" panose="02020603050405020304" pitchFamily="18" charset="0"/>
              </a:rPr>
              <a:t>k</a:t>
            </a:r>
            <a:r>
              <a:rPr lang="zh-CN" sz="2400" dirty="0">
                <a:latin typeface="Times New Roman" panose="02020603050405020304" pitchFamily="18" charset="0"/>
                <a:ea typeface="微软雅黑" panose="020B0503020204020204" charset="-122"/>
                <a:cs typeface="Times New Roman" panose="02020603050405020304" pitchFamily="18" charset="0"/>
              </a:rPr>
              <a:t> 级灰度值，</a:t>
            </a:r>
            <a:r>
              <a:rPr lang="zh-CN" sz="2400" i="1" dirty="0">
                <a:latin typeface="Times New Roman" panose="02020603050405020304" pitchFamily="18" charset="0"/>
                <a:ea typeface="微软雅黑" panose="020B0503020204020204" charset="-122"/>
                <a:cs typeface="Times New Roman" panose="02020603050405020304" pitchFamily="18" charset="0"/>
              </a:rPr>
              <a:t>n</a:t>
            </a:r>
            <a:r>
              <a:rPr lang="zh-CN" sz="2400" i="1" baseline="-25000" dirty="0">
                <a:latin typeface="Times New Roman" panose="02020603050405020304" pitchFamily="18" charset="0"/>
                <a:ea typeface="微软雅黑" panose="020B0503020204020204" charset="-122"/>
                <a:cs typeface="Times New Roman" panose="02020603050405020304" pitchFamily="18" charset="0"/>
              </a:rPr>
              <a:t>k</a:t>
            </a:r>
            <a:r>
              <a:rPr lang="zh-CN" sz="2400" dirty="0">
                <a:latin typeface="Times New Roman" panose="02020603050405020304" pitchFamily="18" charset="0"/>
                <a:ea typeface="微软雅黑" panose="020B0503020204020204" charset="-122"/>
                <a:cs typeface="Times New Roman" panose="02020603050405020304" pitchFamily="18" charset="0"/>
              </a:rPr>
              <a:t>是 </a:t>
            </a:r>
            <a:r>
              <a:rPr lang="zh-CN" sz="2400" i="1" dirty="0">
                <a:latin typeface="Times New Roman" panose="02020603050405020304" pitchFamily="18" charset="0"/>
                <a:ea typeface="微软雅黑" panose="020B0503020204020204" charset="-122"/>
                <a:cs typeface="Times New Roman" panose="02020603050405020304" pitchFamily="18" charset="0"/>
              </a:rPr>
              <a:t>f</a:t>
            </a:r>
            <a:r>
              <a:rPr lang="zh-CN" sz="2400" dirty="0">
                <a:latin typeface="Times New Roman" panose="02020603050405020304" pitchFamily="18" charset="0"/>
                <a:ea typeface="微软雅黑" panose="020B0503020204020204" charset="-122"/>
                <a:cs typeface="Times New Roman" panose="02020603050405020304" pitchFamily="18" charset="0"/>
              </a:rPr>
              <a:t>(</a:t>
            </a:r>
            <a:r>
              <a:rPr lang="zh-CN" sz="2400" i="1" dirty="0">
                <a:latin typeface="Times New Roman" panose="02020603050405020304" pitchFamily="18" charset="0"/>
                <a:ea typeface="微软雅黑" panose="020B0503020204020204" charset="-122"/>
                <a:cs typeface="Times New Roman" panose="02020603050405020304" pitchFamily="18" charset="0"/>
              </a:rPr>
              <a:t>x</a:t>
            </a:r>
            <a:r>
              <a:rPr lang="zh-CN" sz="2400" dirty="0">
                <a:latin typeface="Times New Roman" panose="02020603050405020304" pitchFamily="18" charset="0"/>
                <a:ea typeface="微软雅黑" panose="020B0503020204020204" charset="-122"/>
                <a:cs typeface="Times New Roman" panose="02020603050405020304" pitchFamily="18" charset="0"/>
              </a:rPr>
              <a:t>，</a:t>
            </a:r>
            <a:r>
              <a:rPr lang="zh-CN" sz="2400" i="1" dirty="0">
                <a:latin typeface="Times New Roman" panose="02020603050405020304" pitchFamily="18" charset="0"/>
                <a:ea typeface="微软雅黑" panose="020B0503020204020204" charset="-122"/>
                <a:cs typeface="Times New Roman" panose="02020603050405020304" pitchFamily="18" charset="0"/>
              </a:rPr>
              <a:t>y</a:t>
            </a:r>
            <a:r>
              <a:rPr lang="zh-CN" sz="2400" dirty="0">
                <a:latin typeface="Times New Roman" panose="02020603050405020304" pitchFamily="18" charset="0"/>
                <a:ea typeface="微软雅黑" panose="020B0503020204020204" charset="-122"/>
                <a:cs typeface="Times New Roman" panose="02020603050405020304" pitchFamily="18" charset="0"/>
              </a:rPr>
              <a:t>)中具有灰度值 </a:t>
            </a:r>
            <a:r>
              <a:rPr lang="zh-CN" sz="2400" i="1" dirty="0">
                <a:latin typeface="Times New Roman" panose="02020603050405020304" pitchFamily="18" charset="0"/>
                <a:ea typeface="微软雅黑" panose="020B0503020204020204" charset="-122"/>
                <a:cs typeface="Times New Roman" panose="02020603050405020304" pitchFamily="18" charset="0"/>
                <a:sym typeface="+mn-ea"/>
              </a:rPr>
              <a:t>s</a:t>
            </a:r>
            <a:r>
              <a:rPr lang="zh-CN" sz="2400" i="1" baseline="-25000" dirty="0">
                <a:latin typeface="Times New Roman" panose="02020603050405020304" pitchFamily="18" charset="0"/>
                <a:ea typeface="微软雅黑" panose="020B0503020204020204" charset="-122"/>
                <a:cs typeface="Times New Roman" panose="02020603050405020304" pitchFamily="18" charset="0"/>
                <a:sym typeface="+mn-ea"/>
              </a:rPr>
              <a:t>k</a:t>
            </a:r>
            <a:r>
              <a:rPr lang="en-US" altLang="zh-CN" sz="2400" i="1" baseline="-25000" dirty="0">
                <a:latin typeface="Times New Roman" panose="02020603050405020304" pitchFamily="18" charset="0"/>
                <a:ea typeface="微软雅黑" panose="020B0503020204020204" charset="-122"/>
                <a:cs typeface="Times New Roman" panose="02020603050405020304" pitchFamily="18" charset="0"/>
                <a:sym typeface="+mn-ea"/>
              </a:rPr>
              <a:t> </a:t>
            </a:r>
            <a:r>
              <a:rPr lang="zh-CN" sz="2400" dirty="0">
                <a:latin typeface="Times New Roman" panose="02020603050405020304" pitchFamily="18" charset="0"/>
                <a:ea typeface="微软雅黑" panose="020B0503020204020204" charset="-122"/>
                <a:cs typeface="Times New Roman" panose="02020603050405020304" pitchFamily="18" charset="0"/>
              </a:rPr>
              <a:t>的象素的个数，</a:t>
            </a:r>
            <a:r>
              <a:rPr lang="en-US" altLang="zh-CN" sz="2400" i="1" dirty="0">
                <a:latin typeface="Times New Roman" panose="02020603050405020304" pitchFamily="18" charset="0"/>
                <a:ea typeface="微软雅黑" panose="020B0503020204020204" charset="-122"/>
                <a:cs typeface="Times New Roman" panose="02020603050405020304" pitchFamily="18" charset="0"/>
              </a:rPr>
              <a:t>N</a:t>
            </a:r>
            <a:r>
              <a:rPr lang="zh-CN" sz="2400" dirty="0">
                <a:latin typeface="Times New Roman" panose="02020603050405020304" pitchFamily="18" charset="0"/>
                <a:ea typeface="微软雅黑" panose="020B0503020204020204" charset="-122"/>
                <a:cs typeface="Times New Roman" panose="02020603050405020304" pitchFamily="18" charset="0"/>
              </a:rPr>
              <a:t>是图像象素总数，则： </a:t>
            </a:r>
            <a:endParaRPr lang="zh-CN" sz="2400" dirty="0">
              <a:latin typeface="Times New Roman" panose="02020603050405020304" pitchFamily="18" charset="0"/>
              <a:ea typeface="微软雅黑" panose="020B0503020204020204" charset="-122"/>
              <a:cs typeface="Times New Roman" panose="02020603050405020304" pitchFamily="18" charset="0"/>
            </a:endParaRPr>
          </a:p>
          <a:p>
            <a:pPr algn="ctr">
              <a:lnSpc>
                <a:spcPct val="150000"/>
              </a:lnSpc>
            </a:pPr>
            <a:r>
              <a:rPr lang="zh-CN" sz="2400" i="1" dirty="0">
                <a:latin typeface="Times New Roman" panose="02020603050405020304" pitchFamily="18" charset="0"/>
                <a:ea typeface="微软雅黑" panose="020B0503020204020204" charset="-122"/>
                <a:cs typeface="Times New Roman" panose="02020603050405020304" pitchFamily="18" charset="0"/>
              </a:rPr>
              <a:t>p</a:t>
            </a:r>
            <a:r>
              <a:rPr lang="zh-CN" sz="2400" i="1" baseline="-25000" dirty="0">
                <a:latin typeface="Times New Roman" panose="02020603050405020304" pitchFamily="18" charset="0"/>
                <a:ea typeface="微软雅黑" panose="020B0503020204020204" charset="-122"/>
                <a:cs typeface="Times New Roman" panose="02020603050405020304" pitchFamily="18" charset="0"/>
              </a:rPr>
              <a:t>s</a:t>
            </a:r>
            <a:r>
              <a:rPr lang="zh-CN" sz="2400" dirty="0">
                <a:latin typeface="Times New Roman" panose="02020603050405020304" pitchFamily="18" charset="0"/>
                <a:ea typeface="微软雅黑" panose="020B0503020204020204" charset="-122"/>
                <a:cs typeface="Times New Roman" panose="02020603050405020304" pitchFamily="18" charset="0"/>
              </a:rPr>
              <a:t>(</a:t>
            </a:r>
            <a:r>
              <a:rPr lang="zh-CN" sz="2400" i="1" dirty="0">
                <a:latin typeface="Times New Roman" panose="02020603050405020304" pitchFamily="18" charset="0"/>
                <a:ea typeface="微软雅黑" panose="020B0503020204020204" charset="-122"/>
                <a:cs typeface="Times New Roman" panose="02020603050405020304" pitchFamily="18" charset="0"/>
                <a:sym typeface="+mn-ea"/>
              </a:rPr>
              <a:t>s</a:t>
            </a:r>
            <a:r>
              <a:rPr lang="zh-CN" sz="2400" i="1" baseline="-25000" dirty="0">
                <a:latin typeface="Times New Roman" panose="02020603050405020304" pitchFamily="18" charset="0"/>
                <a:ea typeface="微软雅黑" panose="020B0503020204020204" charset="-122"/>
                <a:cs typeface="Times New Roman" panose="02020603050405020304" pitchFamily="18" charset="0"/>
                <a:sym typeface="+mn-ea"/>
              </a:rPr>
              <a:t>k</a:t>
            </a:r>
            <a:r>
              <a:rPr lang="zh-CN" sz="2400" dirty="0">
                <a:latin typeface="Times New Roman" panose="02020603050405020304" pitchFamily="18" charset="0"/>
                <a:ea typeface="微软雅黑" panose="020B0503020204020204" charset="-122"/>
                <a:cs typeface="Times New Roman" panose="02020603050405020304" pitchFamily="18" charset="0"/>
              </a:rPr>
              <a:t>)= </a:t>
            </a:r>
            <a:r>
              <a:rPr lang="zh-CN" sz="2400" i="1" dirty="0">
                <a:latin typeface="Times New Roman" panose="02020603050405020304" pitchFamily="18" charset="0"/>
                <a:ea typeface="微软雅黑" panose="020B0503020204020204" charset="-122"/>
                <a:cs typeface="Times New Roman" panose="02020603050405020304" pitchFamily="18" charset="0"/>
              </a:rPr>
              <a:t>n</a:t>
            </a:r>
            <a:r>
              <a:rPr lang="zh-CN" sz="2400" i="1" baseline="-25000" dirty="0">
                <a:latin typeface="Times New Roman" panose="02020603050405020304" pitchFamily="18" charset="0"/>
                <a:ea typeface="微软雅黑" panose="020B0503020204020204" charset="-122"/>
                <a:cs typeface="Times New Roman" panose="02020603050405020304" pitchFamily="18" charset="0"/>
              </a:rPr>
              <a:t>k</a:t>
            </a:r>
            <a:r>
              <a:rPr lang="zh-CN" sz="2400" dirty="0">
                <a:latin typeface="Times New Roman" panose="02020603050405020304" pitchFamily="18" charset="0"/>
                <a:ea typeface="微软雅黑" panose="020B0503020204020204" charset="-122"/>
                <a:cs typeface="Times New Roman" panose="02020603050405020304" pitchFamily="18" charset="0"/>
              </a:rPr>
              <a:t>/</a:t>
            </a:r>
            <a:r>
              <a:rPr lang="en-US" altLang="zh-CN" sz="2400" i="1" dirty="0">
                <a:latin typeface="Times New Roman" panose="02020603050405020304" pitchFamily="18" charset="0"/>
                <a:ea typeface="微软雅黑" panose="020B0503020204020204" charset="-122"/>
                <a:cs typeface="Times New Roman" panose="02020603050405020304" pitchFamily="18" charset="0"/>
              </a:rPr>
              <a:t>N</a:t>
            </a:r>
            <a:r>
              <a:rPr lang="zh-CN" sz="2400" dirty="0">
                <a:latin typeface="Times New Roman" panose="02020603050405020304" pitchFamily="18" charset="0"/>
                <a:ea typeface="微软雅黑" panose="020B0503020204020204" charset="-122"/>
                <a:cs typeface="Times New Roman" panose="02020603050405020304" pitchFamily="18" charset="0"/>
              </a:rPr>
              <a:t>    </a:t>
            </a:r>
            <a:r>
              <a:rPr lang="zh-CN" sz="2400" i="1" dirty="0">
                <a:latin typeface="Times New Roman" panose="02020603050405020304" pitchFamily="18" charset="0"/>
                <a:ea typeface="微软雅黑" panose="020B0503020204020204" charset="-122"/>
                <a:cs typeface="Times New Roman" panose="02020603050405020304" pitchFamily="18" charset="0"/>
              </a:rPr>
              <a:t>k</a:t>
            </a:r>
            <a:r>
              <a:rPr lang="zh-CN" sz="2400" dirty="0">
                <a:latin typeface="Times New Roman" panose="02020603050405020304" pitchFamily="18" charset="0"/>
                <a:ea typeface="微软雅黑" panose="020B0503020204020204" charset="-122"/>
                <a:cs typeface="Times New Roman" panose="02020603050405020304" pitchFamily="18" charset="0"/>
              </a:rPr>
              <a:t>=0，1，…，</a:t>
            </a:r>
            <a:r>
              <a:rPr lang="zh-CN" sz="2400" i="1" dirty="0">
                <a:latin typeface="Times New Roman" panose="02020603050405020304" pitchFamily="18" charset="0"/>
                <a:ea typeface="微软雅黑" panose="020B0503020204020204" charset="-122"/>
                <a:cs typeface="Times New Roman" panose="02020603050405020304" pitchFamily="18" charset="0"/>
              </a:rPr>
              <a:t>L</a:t>
            </a:r>
            <a:r>
              <a:rPr lang="zh-CN" sz="2400" dirty="0">
                <a:latin typeface="Times New Roman" panose="02020603050405020304" pitchFamily="18" charset="0"/>
                <a:ea typeface="微软雅黑" panose="020B0503020204020204" charset="-122"/>
                <a:cs typeface="Times New Roman" panose="02020603050405020304" pitchFamily="18" charset="0"/>
              </a:rPr>
              <a:t>-1 </a:t>
            </a:r>
            <a:endParaRPr lang="zh-CN" sz="2400" dirty="0">
              <a:latin typeface="Times New Roman" panose="02020603050405020304" pitchFamily="18" charset="0"/>
              <a:ea typeface="微软雅黑" panose="020B0503020204020204" charset="-122"/>
              <a:cs typeface="Times New Roman" panose="02020603050405020304" pitchFamily="18" charset="0"/>
            </a:endParaRPr>
          </a:p>
          <a:p>
            <a:pPr>
              <a:lnSpc>
                <a:spcPct val="150000"/>
              </a:lnSpc>
            </a:pPr>
            <a:r>
              <a:rPr lang="zh-CN" sz="2400" dirty="0">
                <a:latin typeface="Times New Roman" panose="02020603050405020304" pitchFamily="18" charset="0"/>
                <a:ea typeface="微软雅黑" panose="020B0503020204020204" charset="-122"/>
                <a:cs typeface="Times New Roman" panose="02020603050405020304" pitchFamily="18" charset="0"/>
              </a:rPr>
              <a:t>称为图像</a:t>
            </a:r>
            <a:r>
              <a:rPr lang="zh-CN" sz="2400" i="1" dirty="0">
                <a:latin typeface="Times New Roman" panose="02020603050405020304" pitchFamily="18" charset="0"/>
                <a:ea typeface="微软雅黑" panose="020B0503020204020204" charset="-122"/>
                <a:cs typeface="Times New Roman" panose="02020603050405020304" pitchFamily="18" charset="0"/>
                <a:sym typeface="+mn-ea"/>
              </a:rPr>
              <a:t>f</a:t>
            </a:r>
            <a:r>
              <a:rPr lang="zh-CN" sz="2400" dirty="0">
                <a:latin typeface="Times New Roman" panose="02020603050405020304" pitchFamily="18" charset="0"/>
                <a:ea typeface="微软雅黑" panose="020B0503020204020204" charset="-122"/>
                <a:cs typeface="Times New Roman" panose="02020603050405020304" pitchFamily="18" charset="0"/>
                <a:sym typeface="+mn-ea"/>
              </a:rPr>
              <a:t>(</a:t>
            </a:r>
            <a:r>
              <a:rPr lang="zh-CN" sz="2400" i="1" dirty="0">
                <a:latin typeface="Times New Roman" panose="02020603050405020304" pitchFamily="18" charset="0"/>
                <a:ea typeface="微软雅黑" panose="020B0503020204020204" charset="-122"/>
                <a:cs typeface="Times New Roman" panose="02020603050405020304" pitchFamily="18" charset="0"/>
                <a:sym typeface="+mn-ea"/>
              </a:rPr>
              <a:t>x</a:t>
            </a:r>
            <a:r>
              <a:rPr lang="zh-CN" sz="2400" dirty="0">
                <a:latin typeface="Times New Roman" panose="02020603050405020304" pitchFamily="18" charset="0"/>
                <a:ea typeface="微软雅黑" panose="020B0503020204020204" charset="-122"/>
                <a:cs typeface="Times New Roman" panose="02020603050405020304" pitchFamily="18" charset="0"/>
                <a:sym typeface="+mn-ea"/>
              </a:rPr>
              <a:t>，</a:t>
            </a:r>
            <a:r>
              <a:rPr lang="zh-CN" sz="2400" i="1" dirty="0">
                <a:latin typeface="Times New Roman" panose="02020603050405020304" pitchFamily="18" charset="0"/>
                <a:ea typeface="微软雅黑" panose="020B0503020204020204" charset="-122"/>
                <a:cs typeface="Times New Roman" panose="02020603050405020304" pitchFamily="18" charset="0"/>
                <a:sym typeface="+mn-ea"/>
              </a:rPr>
              <a:t>y</a:t>
            </a:r>
            <a:r>
              <a:rPr lang="zh-CN" sz="2400" dirty="0">
                <a:latin typeface="Times New Roman" panose="02020603050405020304" pitchFamily="18" charset="0"/>
                <a:ea typeface="微软雅黑" panose="020B0503020204020204" charset="-122"/>
                <a:cs typeface="Times New Roman" panose="02020603050405020304" pitchFamily="18" charset="0"/>
                <a:sym typeface="+mn-ea"/>
              </a:rPr>
              <a:t>)</a:t>
            </a:r>
            <a:r>
              <a:rPr lang="zh-CN" sz="2400" dirty="0">
                <a:latin typeface="Times New Roman" panose="02020603050405020304" pitchFamily="18" charset="0"/>
                <a:ea typeface="微软雅黑" panose="020B0503020204020204" charset="-122"/>
                <a:cs typeface="Times New Roman" panose="02020603050405020304" pitchFamily="18" charset="0"/>
              </a:rPr>
              <a:t>的直方图，这里</a:t>
            </a:r>
            <a:r>
              <a:rPr lang="zh-CN" sz="2400" i="1" dirty="0">
                <a:latin typeface="Times New Roman" panose="02020603050405020304" pitchFamily="18" charset="0"/>
                <a:ea typeface="微软雅黑" panose="020B0503020204020204" charset="-122"/>
                <a:cs typeface="Times New Roman" panose="02020603050405020304" pitchFamily="18" charset="0"/>
                <a:sym typeface="+mn-ea"/>
              </a:rPr>
              <a:t>p</a:t>
            </a:r>
            <a:r>
              <a:rPr lang="zh-CN" sz="2400" i="1" baseline="-25000" dirty="0">
                <a:latin typeface="Times New Roman" panose="02020603050405020304" pitchFamily="18" charset="0"/>
                <a:ea typeface="微软雅黑" panose="020B0503020204020204" charset="-122"/>
                <a:cs typeface="Times New Roman" panose="02020603050405020304" pitchFamily="18" charset="0"/>
                <a:sym typeface="+mn-ea"/>
              </a:rPr>
              <a:t>s</a:t>
            </a:r>
            <a:r>
              <a:rPr lang="zh-CN" sz="2400" dirty="0">
                <a:latin typeface="Times New Roman" panose="02020603050405020304" pitchFamily="18" charset="0"/>
                <a:ea typeface="微软雅黑" panose="020B0503020204020204" charset="-122"/>
                <a:cs typeface="Times New Roman" panose="02020603050405020304" pitchFamily="18" charset="0"/>
                <a:sym typeface="+mn-ea"/>
              </a:rPr>
              <a:t>(</a:t>
            </a:r>
            <a:r>
              <a:rPr lang="zh-CN" sz="2400" i="1" dirty="0">
                <a:latin typeface="Times New Roman" panose="02020603050405020304" pitchFamily="18" charset="0"/>
                <a:ea typeface="微软雅黑" panose="020B0503020204020204" charset="-122"/>
                <a:cs typeface="Times New Roman" panose="02020603050405020304" pitchFamily="18" charset="0"/>
                <a:sym typeface="+mn-ea"/>
              </a:rPr>
              <a:t>s</a:t>
            </a:r>
            <a:r>
              <a:rPr lang="zh-CN" sz="2400" i="1" baseline="-25000" dirty="0">
                <a:latin typeface="Times New Roman" panose="02020603050405020304" pitchFamily="18" charset="0"/>
                <a:ea typeface="微软雅黑" panose="020B0503020204020204" charset="-122"/>
                <a:cs typeface="Times New Roman" panose="02020603050405020304" pitchFamily="18" charset="0"/>
                <a:sym typeface="+mn-ea"/>
              </a:rPr>
              <a:t>k</a:t>
            </a:r>
            <a:r>
              <a:rPr lang="zh-CN" sz="2400" dirty="0">
                <a:latin typeface="Times New Roman" panose="02020603050405020304" pitchFamily="18" charset="0"/>
                <a:ea typeface="微软雅黑" panose="020B0503020204020204" charset="-122"/>
                <a:cs typeface="Times New Roman" panose="02020603050405020304" pitchFamily="18" charset="0"/>
                <a:sym typeface="+mn-ea"/>
              </a:rPr>
              <a:t>)</a:t>
            </a:r>
            <a:r>
              <a:rPr lang="zh-CN" sz="2400" dirty="0">
                <a:latin typeface="Times New Roman" panose="02020603050405020304" pitchFamily="18" charset="0"/>
                <a:ea typeface="微软雅黑" panose="020B0503020204020204" charset="-122"/>
                <a:cs typeface="Times New Roman" panose="02020603050405020304" pitchFamily="18" charset="0"/>
              </a:rPr>
              <a:t>代表原始图中第</a:t>
            </a:r>
            <a:r>
              <a:rPr lang="zh-CN" sz="2400" i="1" dirty="0">
                <a:latin typeface="Times New Roman" panose="02020603050405020304" pitchFamily="18" charset="0"/>
                <a:ea typeface="微软雅黑" panose="020B0503020204020204" charset="-122"/>
                <a:cs typeface="Times New Roman" panose="02020603050405020304" pitchFamily="18" charset="0"/>
              </a:rPr>
              <a:t> k</a:t>
            </a:r>
            <a:r>
              <a:rPr lang="zh-CN" sz="2400" dirty="0">
                <a:latin typeface="Times New Roman" panose="02020603050405020304" pitchFamily="18" charset="0"/>
                <a:ea typeface="微软雅黑" panose="020B0503020204020204" charset="-122"/>
                <a:cs typeface="Times New Roman" panose="02020603050405020304" pitchFamily="18" charset="0"/>
              </a:rPr>
              <a:t> 个灰度级的出现概率。在</a:t>
            </a:r>
            <a:r>
              <a:rPr lang="en-US" altLang="zh-CN" sz="2400" dirty="0">
                <a:latin typeface="Times New Roman" panose="02020603050405020304" pitchFamily="18" charset="0"/>
                <a:ea typeface="微软雅黑" panose="020B0503020204020204" charset="-122"/>
                <a:cs typeface="Times New Roman" panose="02020603050405020304" pitchFamily="18" charset="0"/>
              </a:rPr>
              <a:t>Matlab</a:t>
            </a:r>
            <a:r>
              <a:rPr lang="zh-CN" altLang="en-US" sz="2400" dirty="0">
                <a:latin typeface="Times New Roman" panose="02020603050405020304" pitchFamily="18" charset="0"/>
                <a:ea typeface="微软雅黑" panose="020B0503020204020204" charset="-122"/>
                <a:cs typeface="Times New Roman" panose="02020603050405020304" pitchFamily="18" charset="0"/>
              </a:rPr>
              <a:t>中函数imhist可以得到直方图。</a:t>
            </a:r>
            <a:endParaRPr lang="zh-CN" altLang="en-US" sz="2400" dirty="0">
              <a:latin typeface="Times New Roman" panose="02020603050405020304" pitchFamily="18" charset="0"/>
              <a:ea typeface="微软雅黑" panose="020B0503020204020204" charset="-122"/>
              <a:cs typeface="Times New Roman" panose="02020603050405020304" pitchFamily="18" charset="0"/>
            </a:endParaRPr>
          </a:p>
        </p:txBody>
      </p:sp>
      <p:sp>
        <p:nvSpPr>
          <p:cNvPr id="33795" name="矩形 33794"/>
          <p:cNvSpPr/>
          <p:nvPr/>
        </p:nvSpPr>
        <p:spPr>
          <a:xfrm>
            <a:off x="570230" y="476885"/>
            <a:ext cx="8284845" cy="609600"/>
          </a:xfrm>
          <a:prstGeom prst="rect">
            <a:avLst/>
          </a:prstGeom>
          <a:noFill/>
          <a:ln w="12700">
            <a:noFill/>
          </a:ln>
          <a:effectLst>
            <a:outerShdw blurRad="50800" dist="38100" dir="2700000" algn="tl" rotWithShape="0">
              <a:prstClr val="black">
                <a:alpha val="40000"/>
              </a:prstClr>
            </a:outerShdw>
          </a:effectLst>
        </p:spPr>
        <p:txBody>
          <a:bodyPr/>
          <a:lstStyle/>
          <a:p>
            <a:pPr marL="457200" marR="0" lvl="0" indent="-457200" algn="l" defTabSz="914400" rtl="0" eaLnBrk="1" fontAlgn="base" latinLnBrk="0" hangingPunct="1">
              <a:lnSpc>
                <a:spcPct val="120000"/>
              </a:lnSpc>
              <a:spcBef>
                <a:spcPct val="20000"/>
              </a:spcBef>
              <a:spcAft>
                <a:spcPct val="0"/>
              </a:spcAft>
              <a:buClr>
                <a:schemeClr val="tx2"/>
              </a:buClr>
              <a:buSzPct val="90000"/>
              <a:buFont typeface="Symbol" panose="05050102010706020507" pitchFamily="18" charset="2"/>
              <a:buNone/>
              <a:defRPr/>
            </a:pPr>
            <a:r>
              <a:rPr kumimoji="0" lang="zh-CN" b="1" i="0" u="none" strike="noStrike" kern="1200" cap="none" spc="0" normalizeH="0" baseline="0" noProof="1">
                <a:ln>
                  <a:noFill/>
                </a:ln>
                <a:solidFill>
                  <a:srgbClr val="002060"/>
                </a:solidFill>
                <a:effectLst/>
                <a:uLnTx/>
                <a:uFillTx/>
                <a:latin typeface="微软雅黑" panose="020B0503020204020204" charset="-122"/>
                <a:ea typeface="微软雅黑" panose="020B0503020204020204" charset="-122"/>
                <a:cs typeface="微软雅黑" panose="020B0503020204020204" charset="-122"/>
              </a:rPr>
              <a:t>实验一</a:t>
            </a:r>
            <a:r>
              <a:rPr kumimoji="0" lang="en-US" altLang="zh-CN" b="1" i="0" u="none" strike="noStrike" kern="1200" cap="none" spc="0" normalizeH="0" baseline="0" noProof="1">
                <a:ln>
                  <a:noFill/>
                </a:ln>
                <a:solidFill>
                  <a:srgbClr val="002060"/>
                </a:solidFill>
                <a:effectLst/>
                <a:uLnTx/>
                <a:uFillTx/>
                <a:latin typeface="微软雅黑" panose="020B0503020204020204" charset="-122"/>
                <a:ea typeface="微软雅黑" panose="020B0503020204020204" charset="-122"/>
                <a:cs typeface="微软雅黑" panose="020B0503020204020204" charset="-122"/>
              </a:rPr>
              <a:t> </a:t>
            </a:r>
            <a:r>
              <a:rPr kumimoji="0" lang="zh-CN" b="1" i="0" u="none" strike="noStrike" kern="1200" cap="none" spc="0" normalizeH="0" baseline="0" noProof="1">
                <a:ln>
                  <a:noFill/>
                </a:ln>
                <a:solidFill>
                  <a:srgbClr val="002060"/>
                </a:solidFill>
                <a:effectLst/>
                <a:uLnTx/>
                <a:uFillTx/>
                <a:latin typeface="微软雅黑" panose="020B0503020204020204" charset="-122"/>
                <a:ea typeface="微软雅黑" panose="020B0503020204020204" charset="-122"/>
                <a:cs typeface="微软雅黑" panose="020B0503020204020204" charset="-122"/>
              </a:rPr>
              <a:t>数字图像的输入、输出、显示、直方图统计</a:t>
            </a:r>
            <a:endParaRPr kumimoji="0" lang="zh-CN" b="1" i="0" u="none" strike="noStrike" kern="1200" cap="none" spc="0" normalizeH="0" baseline="0" noProof="1">
              <a:ln>
                <a:noFill/>
              </a:ln>
              <a:solidFill>
                <a:srgbClr val="002060"/>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075" name="文本框 6151"/>
          <p:cNvSpPr txBox="1"/>
          <p:nvPr/>
        </p:nvSpPr>
        <p:spPr>
          <a:xfrm>
            <a:off x="1692275" y="6309360"/>
            <a:ext cx="5759450" cy="337185"/>
          </a:xfrm>
          <a:prstGeom prst="rect">
            <a:avLst/>
          </a:prstGeom>
          <a:noFill/>
          <a:ln w="9525">
            <a:noFill/>
          </a:ln>
        </p:spPr>
        <p:txBody>
          <a:bodyPr anchor="t" anchorCtr="0">
            <a:spAutoFit/>
          </a:bodyPr>
          <a:p>
            <a:pPr algn="ctr">
              <a:spcBef>
                <a:spcPct val="50000"/>
              </a:spcBef>
            </a:pPr>
            <a:r>
              <a:rPr lang="zh-CN" altLang="en-US" sz="1600" dirty="0">
                <a:solidFill>
                  <a:srgbClr val="6E859D"/>
                </a:solidFill>
                <a:latin typeface="华文楷体" panose="02010600040101010101" pitchFamily="2" charset="-122"/>
                <a:ea typeface="华文楷体" panose="02010600040101010101" pitchFamily="2" charset="-122"/>
              </a:rPr>
              <a:t>《数字图像处理》实验</a:t>
            </a:r>
            <a:r>
              <a:rPr lang="en-US" altLang="zh-CN" sz="1600" dirty="0">
                <a:solidFill>
                  <a:srgbClr val="6E859D"/>
                </a:solidFill>
                <a:latin typeface="华文楷体" panose="02010600040101010101" pitchFamily="2" charset="-122"/>
                <a:ea typeface="华文楷体" panose="02010600040101010101" pitchFamily="2" charset="-122"/>
              </a:rPr>
              <a:t>- </a:t>
            </a:r>
            <a:r>
              <a:rPr lang="zh-CN" altLang="en-US" sz="1600" dirty="0">
                <a:solidFill>
                  <a:srgbClr val="6E859D"/>
                </a:solidFill>
                <a:latin typeface="华文楷体" panose="02010600040101010101" pitchFamily="2" charset="-122"/>
                <a:ea typeface="华文楷体" panose="02010600040101010101" pitchFamily="2" charset="-122"/>
              </a:rPr>
              <a:t>电子信息与电气工程学院</a:t>
            </a:r>
            <a:endParaRPr lang="zh-CN" altLang="en-US" sz="1600" dirty="0">
              <a:solidFill>
                <a:srgbClr val="6E859D"/>
              </a:solidFill>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244">
                                            <p:txEl>
                                              <p:pRg st="0" end="0"/>
                                            </p:txEl>
                                          </p:spTgt>
                                        </p:tgtEl>
                                        <p:attrNameLst>
                                          <p:attrName>style.visibility</p:attrName>
                                        </p:attrNameLst>
                                      </p:cBhvr>
                                      <p:to>
                                        <p:strVal val="visible"/>
                                      </p:to>
                                    </p:set>
                                    <p:animEffect transition="in" filter="blinds(horizontal)">
                                      <p:cBhvr>
                                        <p:cTn id="7" dur="500"/>
                                        <p:tgtEl>
                                          <p:spTgt spid="1024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244">
                                            <p:txEl>
                                              <p:pRg st="1" end="1"/>
                                            </p:txEl>
                                          </p:spTgt>
                                        </p:tgtEl>
                                        <p:attrNameLst>
                                          <p:attrName>style.visibility</p:attrName>
                                        </p:attrNameLst>
                                      </p:cBhvr>
                                      <p:to>
                                        <p:strVal val="visible"/>
                                      </p:to>
                                    </p:set>
                                    <p:animEffect transition="in" filter="blinds(horizontal)">
                                      <p:cBhvr>
                                        <p:cTn id="12" dur="500"/>
                                        <p:tgtEl>
                                          <p:spTgt spid="1024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244">
                                            <p:txEl>
                                              <p:pRg st="2" end="2"/>
                                            </p:txEl>
                                          </p:spTgt>
                                        </p:tgtEl>
                                        <p:attrNameLst>
                                          <p:attrName>style.visibility</p:attrName>
                                        </p:attrNameLst>
                                      </p:cBhvr>
                                      <p:to>
                                        <p:strVal val="visible"/>
                                      </p:to>
                                    </p:set>
                                    <p:animEffect transition="in" filter="blinds(horizontal)">
                                      <p:cBhvr>
                                        <p:cTn id="17" dur="500"/>
                                        <p:tgtEl>
                                          <p:spTgt spid="1024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0244">
                                            <p:txEl>
                                              <p:pRg st="3" end="3"/>
                                            </p:txEl>
                                          </p:spTgt>
                                        </p:tgtEl>
                                        <p:attrNameLst>
                                          <p:attrName>style.visibility</p:attrName>
                                        </p:attrNameLst>
                                      </p:cBhvr>
                                      <p:to>
                                        <p:strVal val="visible"/>
                                      </p:to>
                                    </p:set>
                                    <p:animEffect transition="in" filter="blinds(horizontal)">
                                      <p:cBhvr>
                                        <p:cTn id="22" dur="500"/>
                                        <p:tgtEl>
                                          <p:spTgt spid="1024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39750" y="1341438"/>
            <a:ext cx="2179955" cy="521970"/>
          </a:xfrm>
          <a:prstGeom prst="rect">
            <a:avLst/>
          </a:prstGeom>
          <a:noFill/>
        </p:spPr>
        <p:txBody>
          <a:bodyPr wrap="none">
            <a:spAutoFit/>
          </a:bodyPr>
          <a:lstStyle/>
          <a:p>
            <a:pPr marR="0" defTabSz="914400">
              <a:buClrTx/>
              <a:buSzTx/>
              <a:buFontTx/>
              <a:buNone/>
              <a:defRPr/>
            </a:pPr>
            <a:r>
              <a:rPr kumimoji="0" lang="en-US" altLang="zh-CN" b="1" kern="1200" cap="none" spc="0" normalizeH="0" baseline="0" noProof="0" dirty="0">
                <a:solidFill>
                  <a:srgbClr val="FF0066"/>
                </a:solidFill>
                <a:effectLst>
                  <a:outerShdw blurRad="50800" dir="5400000" algn="tl">
                    <a:srgbClr val="000000"/>
                  </a:outerShdw>
                </a:effectLst>
                <a:latin typeface="微软雅黑" panose="020B0503020204020204" charset="-122"/>
                <a:ea typeface="微软雅黑" panose="020B0503020204020204" charset="-122"/>
                <a:cs typeface="微软雅黑" panose="020B0503020204020204" charset="-122"/>
                <a:sym typeface="+mn-ea"/>
              </a:rPr>
              <a:t>3</a:t>
            </a:r>
            <a:r>
              <a:rPr kumimoji="0" lang="zh-CN" altLang="en-US" b="1" kern="1200" cap="none" spc="0" normalizeH="0" baseline="0" noProof="0" dirty="0">
                <a:solidFill>
                  <a:srgbClr val="FF0066"/>
                </a:solidFill>
                <a:effectLst>
                  <a:outerShdw blurRad="50800" dir="5400000" algn="tl">
                    <a:srgbClr val="000000"/>
                  </a:outerShdw>
                </a:effectLst>
                <a:latin typeface="微软雅黑" panose="020B0503020204020204" charset="-122"/>
                <a:ea typeface="微软雅黑" panose="020B0503020204020204" charset="-122"/>
                <a:cs typeface="微软雅黑" panose="020B0503020204020204" charset="-122"/>
                <a:sym typeface="+mn-ea"/>
              </a:rPr>
              <a:t>、实验内容</a:t>
            </a:r>
            <a:endParaRPr kumimoji="0" lang="zh-CN" altLang="en-US" b="1" kern="1200" cap="none" spc="0" normalizeH="0" baseline="0" noProof="0" dirty="0">
              <a:solidFill>
                <a:srgbClr val="FF0066"/>
              </a:solidFill>
              <a:effectLst>
                <a:outerShdw blurRad="50800" dir="5400000" algn="tl">
                  <a:srgbClr val="000000"/>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10242" name="Rectangle 3"/>
          <p:cNvSpPr>
            <a:spLocks noGrp="1" noChangeArrowheads="1"/>
          </p:cNvSpPr>
          <p:nvPr>
            <p:ph idx="1"/>
          </p:nvPr>
        </p:nvSpPr>
        <p:spPr>
          <a:xfrm>
            <a:off x="437515" y="1917065"/>
            <a:ext cx="8180070" cy="4253230"/>
          </a:xfrm>
        </p:spPr>
        <p:txBody>
          <a:bodyPr/>
          <a:p>
            <a:pPr>
              <a:lnSpc>
                <a:spcPct val="150000"/>
              </a:lnSpc>
              <a:spcBef>
                <a:spcPts val="0"/>
              </a:spcBef>
              <a:buNone/>
            </a:pPr>
            <a:r>
              <a:rPr lang="en-US" altLang="zh-CN" sz="2400" dirty="0">
                <a:latin typeface="微软雅黑" panose="020B0503020204020204" charset="-122"/>
                <a:ea typeface="微软雅黑" panose="020B0503020204020204" charset="-122"/>
                <a:cs typeface="微软雅黑" panose="020B0503020204020204" charset="-122"/>
              </a:rPr>
              <a:t>3.1</a:t>
            </a:r>
            <a:r>
              <a:rPr lang="zh-CN" altLang="en-US" sz="2400" dirty="0">
                <a:latin typeface="微软雅黑" panose="020B0503020204020204" charset="-122"/>
                <a:ea typeface="微软雅黑" panose="020B0503020204020204" charset="-122"/>
                <a:cs typeface="微软雅黑" panose="020B0503020204020204" charset="-122"/>
              </a:rPr>
              <a:t>．</a:t>
            </a:r>
            <a:r>
              <a:rPr sz="2400" dirty="0">
                <a:latin typeface="Times New Roman" panose="02020603050405020304" pitchFamily="18" charset="0"/>
                <a:ea typeface="微软雅黑" panose="020B0503020204020204" charset="-122"/>
                <a:cs typeface="Times New Roman" panose="02020603050405020304" pitchFamily="18" charset="0"/>
              </a:rPr>
              <a:t>图像的基本操作</a:t>
            </a:r>
            <a:endParaRPr lang="en-US" altLang="zh-CN" sz="2400" dirty="0">
              <a:latin typeface="Times New Roman" panose="02020603050405020304" pitchFamily="18" charset="0"/>
              <a:ea typeface="微软雅黑" panose="020B0503020204020204" charset="-122"/>
              <a:cs typeface="Times New Roman" panose="02020603050405020304" pitchFamily="18" charset="0"/>
            </a:endParaRPr>
          </a:p>
          <a:p>
            <a:pPr>
              <a:lnSpc>
                <a:spcPct val="150000"/>
              </a:lnSpc>
              <a:buNone/>
            </a:pPr>
            <a:r>
              <a:rPr altLang="zh-CN" sz="2400">
                <a:ea typeface="微软雅黑" panose="020B0503020204020204" charset="-122"/>
                <a:sym typeface="+mn-ea"/>
              </a:rPr>
              <a:t>1．</a:t>
            </a:r>
            <a:r>
              <a:rPr lang="zh-CN" sz="2400">
                <a:ea typeface="微软雅黑" panose="020B0503020204020204" charset="-122"/>
                <a:sym typeface="+mn-ea"/>
              </a:rPr>
              <a:t>拍摄自己的一幅图像，命名为</a:t>
            </a:r>
            <a:r>
              <a:rPr lang="en-US" altLang="zh-CN" sz="2400">
                <a:ea typeface="微软雅黑" panose="020B0503020204020204" charset="-122"/>
                <a:sym typeface="+mn-ea"/>
              </a:rPr>
              <a:t>“</a:t>
            </a:r>
            <a:r>
              <a:rPr lang="zh-CN" altLang="en-US" sz="2400" noProof="0" dirty="0">
                <a:solidFill>
                  <a:srgbClr val="FF0066"/>
                </a:solidFill>
                <a:effectLst/>
                <a:latin typeface="微软雅黑" panose="020B0503020204020204" charset="-122"/>
                <a:ea typeface="微软雅黑" panose="020B0503020204020204" charset="-122"/>
                <a:cs typeface="微软雅黑" panose="020B0503020204020204" charset="-122"/>
                <a:sym typeface="+mn-ea"/>
              </a:rPr>
              <a:t>姓名拼音</a:t>
            </a:r>
            <a:r>
              <a:rPr altLang="zh-CN" sz="2400">
                <a:ea typeface="微软雅黑" panose="020B0503020204020204" charset="-122"/>
                <a:sym typeface="+mn-ea"/>
              </a:rPr>
              <a:t>.</a:t>
            </a:r>
            <a:r>
              <a:rPr lang="en-US" sz="2400">
                <a:ea typeface="微软雅黑" panose="020B0503020204020204" charset="-122"/>
                <a:sym typeface="+mn-ea"/>
              </a:rPr>
              <a:t>***</a:t>
            </a:r>
            <a:r>
              <a:rPr lang="en-US" sz="2400">
                <a:ea typeface="微软雅黑" panose="020B0503020204020204" charset="-122"/>
                <a:sym typeface="+mn-ea"/>
              </a:rPr>
              <a:t>”</a:t>
            </a:r>
            <a:r>
              <a:rPr lang="zh-CN" sz="2400">
                <a:ea typeface="微软雅黑" panose="020B0503020204020204" charset="-122"/>
                <a:sym typeface="+mn-ea"/>
              </a:rPr>
              <a:t>，要求能认出你是谁；</a:t>
            </a:r>
            <a:endParaRPr altLang="zh-CN" sz="2400">
              <a:ea typeface="微软雅黑" panose="020B0503020204020204" charset="-122"/>
            </a:endParaRPr>
          </a:p>
          <a:p>
            <a:pPr>
              <a:lnSpc>
                <a:spcPct val="150000"/>
              </a:lnSpc>
              <a:buNone/>
            </a:pPr>
            <a:r>
              <a:rPr lang="en-US" sz="2400">
                <a:ea typeface="微软雅黑" panose="020B0503020204020204" charset="-122"/>
              </a:rPr>
              <a:t>2</a:t>
            </a:r>
            <a:r>
              <a:rPr altLang="zh-CN" sz="2400">
                <a:ea typeface="微软雅黑" panose="020B0503020204020204" charset="-122"/>
              </a:rPr>
              <a:t>．利用imread( )函数读取</a:t>
            </a:r>
            <a:r>
              <a:rPr lang="zh-CN" sz="2400">
                <a:ea typeface="微软雅黑" panose="020B0503020204020204" charset="-122"/>
              </a:rPr>
              <a:t>该</a:t>
            </a:r>
            <a:r>
              <a:rPr altLang="zh-CN" sz="2400">
                <a:ea typeface="微软雅黑" panose="020B0503020204020204" charset="-122"/>
              </a:rPr>
              <a:t>幅图像，存入一个数组中； </a:t>
            </a:r>
            <a:endParaRPr altLang="zh-CN" sz="2400">
              <a:ea typeface="微软雅黑" panose="020B0503020204020204" charset="-122"/>
            </a:endParaRPr>
          </a:p>
          <a:p>
            <a:pPr>
              <a:lnSpc>
                <a:spcPct val="150000"/>
              </a:lnSpc>
              <a:buNone/>
            </a:pPr>
            <a:r>
              <a:rPr lang="en-US" sz="2400">
                <a:ea typeface="微软雅黑" panose="020B0503020204020204" charset="-122"/>
              </a:rPr>
              <a:t>3</a:t>
            </a:r>
            <a:r>
              <a:rPr altLang="zh-CN" sz="2400">
                <a:ea typeface="微软雅黑" panose="020B0503020204020204" charset="-122"/>
              </a:rPr>
              <a:t>．利用whos 命令提取该读入图像的基本信息； </a:t>
            </a:r>
            <a:endParaRPr altLang="zh-CN" sz="2400">
              <a:ea typeface="微软雅黑" panose="020B0503020204020204" charset="-122"/>
            </a:endParaRPr>
          </a:p>
          <a:p>
            <a:pPr>
              <a:lnSpc>
                <a:spcPct val="150000"/>
              </a:lnSpc>
              <a:buNone/>
            </a:pPr>
            <a:r>
              <a:rPr lang="en-US" sz="2400">
                <a:ea typeface="微软雅黑" panose="020B0503020204020204" charset="-122"/>
              </a:rPr>
              <a:t>4</a:t>
            </a:r>
            <a:r>
              <a:rPr altLang="zh-CN" sz="2400">
                <a:ea typeface="微软雅黑" panose="020B0503020204020204" charset="-122"/>
              </a:rPr>
              <a:t>．利用imshow()函数来显示这幅图像；比较分析用image（）和imagec（）函数显示图像的有什么区别？</a:t>
            </a:r>
            <a:endParaRPr altLang="zh-CN" sz="2400">
              <a:ea typeface="微软雅黑" panose="020B0503020204020204" charset="-122"/>
            </a:endParaRPr>
          </a:p>
        </p:txBody>
      </p:sp>
      <p:sp>
        <p:nvSpPr>
          <p:cNvPr id="33795" name="矩形 33794"/>
          <p:cNvSpPr/>
          <p:nvPr/>
        </p:nvSpPr>
        <p:spPr>
          <a:xfrm>
            <a:off x="570230" y="476885"/>
            <a:ext cx="8284845" cy="609600"/>
          </a:xfrm>
          <a:prstGeom prst="rect">
            <a:avLst/>
          </a:prstGeom>
          <a:noFill/>
          <a:ln w="12700">
            <a:noFill/>
          </a:ln>
          <a:effectLst>
            <a:outerShdw blurRad="50800" dist="38100" dir="2700000" algn="tl" rotWithShape="0">
              <a:prstClr val="black">
                <a:alpha val="40000"/>
              </a:prstClr>
            </a:outerShdw>
          </a:effectLst>
        </p:spPr>
        <p:txBody>
          <a:bodyPr/>
          <a:lstStyle/>
          <a:p>
            <a:pPr marL="457200" marR="0" lvl="0" indent="-457200" algn="l" defTabSz="914400" rtl="0" eaLnBrk="1" fontAlgn="base" latinLnBrk="0" hangingPunct="1">
              <a:lnSpc>
                <a:spcPct val="120000"/>
              </a:lnSpc>
              <a:spcBef>
                <a:spcPct val="20000"/>
              </a:spcBef>
              <a:spcAft>
                <a:spcPct val="0"/>
              </a:spcAft>
              <a:buClr>
                <a:schemeClr val="tx2"/>
              </a:buClr>
              <a:buSzPct val="90000"/>
              <a:buFont typeface="Symbol" panose="05050102010706020507" pitchFamily="18" charset="2"/>
              <a:buNone/>
              <a:defRPr/>
            </a:pPr>
            <a:r>
              <a:rPr kumimoji="0" lang="zh-CN" b="1" i="0" u="none" strike="noStrike" kern="1200" cap="none" spc="0" normalizeH="0" baseline="0" noProof="1">
                <a:ln>
                  <a:noFill/>
                </a:ln>
                <a:solidFill>
                  <a:srgbClr val="002060"/>
                </a:solidFill>
                <a:effectLst/>
                <a:uLnTx/>
                <a:uFillTx/>
                <a:latin typeface="微软雅黑" panose="020B0503020204020204" charset="-122"/>
                <a:ea typeface="微软雅黑" panose="020B0503020204020204" charset="-122"/>
                <a:cs typeface="微软雅黑" panose="020B0503020204020204" charset="-122"/>
              </a:rPr>
              <a:t>实验一</a:t>
            </a:r>
            <a:r>
              <a:rPr kumimoji="0" lang="en-US" altLang="zh-CN" b="1" i="0" u="none" strike="noStrike" kern="1200" cap="none" spc="0" normalizeH="0" baseline="0" noProof="1">
                <a:ln>
                  <a:noFill/>
                </a:ln>
                <a:solidFill>
                  <a:srgbClr val="002060"/>
                </a:solidFill>
                <a:effectLst/>
                <a:uLnTx/>
                <a:uFillTx/>
                <a:latin typeface="微软雅黑" panose="020B0503020204020204" charset="-122"/>
                <a:ea typeface="微软雅黑" panose="020B0503020204020204" charset="-122"/>
                <a:cs typeface="微软雅黑" panose="020B0503020204020204" charset="-122"/>
              </a:rPr>
              <a:t> </a:t>
            </a:r>
            <a:r>
              <a:rPr kumimoji="0" lang="zh-CN" b="1" i="0" u="none" strike="noStrike" kern="1200" cap="none" spc="0" normalizeH="0" baseline="0" noProof="1">
                <a:ln>
                  <a:noFill/>
                </a:ln>
                <a:solidFill>
                  <a:srgbClr val="002060"/>
                </a:solidFill>
                <a:effectLst/>
                <a:uLnTx/>
                <a:uFillTx/>
                <a:latin typeface="微软雅黑" panose="020B0503020204020204" charset="-122"/>
                <a:ea typeface="微软雅黑" panose="020B0503020204020204" charset="-122"/>
                <a:cs typeface="微软雅黑" panose="020B0503020204020204" charset="-122"/>
              </a:rPr>
              <a:t>数字图像的输入、输出、显示、直方图统计</a:t>
            </a:r>
            <a:endParaRPr kumimoji="0" lang="zh-CN" b="1" i="0" u="none" strike="noStrike" kern="1200" cap="none" spc="0" normalizeH="0" baseline="0" noProof="1">
              <a:ln>
                <a:noFill/>
              </a:ln>
              <a:solidFill>
                <a:srgbClr val="002060"/>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 name="文本框 6151"/>
          <p:cNvSpPr txBox="1"/>
          <p:nvPr/>
        </p:nvSpPr>
        <p:spPr>
          <a:xfrm>
            <a:off x="1692275" y="6309360"/>
            <a:ext cx="5759450" cy="337185"/>
          </a:xfrm>
          <a:prstGeom prst="rect">
            <a:avLst/>
          </a:prstGeom>
          <a:noFill/>
          <a:ln w="9525">
            <a:noFill/>
          </a:ln>
        </p:spPr>
        <p:txBody>
          <a:bodyPr anchor="t" anchorCtr="0">
            <a:spAutoFit/>
          </a:bodyPr>
          <a:p>
            <a:pPr algn="ctr">
              <a:spcBef>
                <a:spcPct val="50000"/>
              </a:spcBef>
            </a:pPr>
            <a:r>
              <a:rPr lang="zh-CN" altLang="en-US" sz="1600" dirty="0">
                <a:solidFill>
                  <a:srgbClr val="6E859D"/>
                </a:solidFill>
                <a:latin typeface="华文楷体" panose="02010600040101010101" pitchFamily="2" charset="-122"/>
                <a:ea typeface="华文楷体" panose="02010600040101010101" pitchFamily="2" charset="-122"/>
              </a:rPr>
              <a:t>《数字图像处理》实验</a:t>
            </a:r>
            <a:r>
              <a:rPr lang="en-US" altLang="zh-CN" sz="1600" dirty="0">
                <a:solidFill>
                  <a:srgbClr val="6E859D"/>
                </a:solidFill>
                <a:latin typeface="华文楷体" panose="02010600040101010101" pitchFamily="2" charset="-122"/>
                <a:ea typeface="华文楷体" panose="02010600040101010101" pitchFamily="2" charset="-122"/>
              </a:rPr>
              <a:t>- </a:t>
            </a:r>
            <a:r>
              <a:rPr lang="zh-CN" altLang="en-US" sz="1600" dirty="0">
                <a:solidFill>
                  <a:srgbClr val="6E859D"/>
                </a:solidFill>
                <a:latin typeface="华文楷体" panose="02010600040101010101" pitchFamily="2" charset="-122"/>
                <a:ea typeface="华文楷体" panose="02010600040101010101" pitchFamily="2" charset="-122"/>
              </a:rPr>
              <a:t>电子信息与电气工程学院</a:t>
            </a:r>
            <a:endParaRPr lang="zh-CN" altLang="en-US" sz="1600" dirty="0">
              <a:solidFill>
                <a:srgbClr val="6E859D"/>
              </a:solidFill>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39750" y="1341438"/>
            <a:ext cx="2179955" cy="521970"/>
          </a:xfrm>
          <a:prstGeom prst="rect">
            <a:avLst/>
          </a:prstGeom>
          <a:noFill/>
        </p:spPr>
        <p:txBody>
          <a:bodyPr wrap="none">
            <a:spAutoFit/>
          </a:bodyPr>
          <a:lstStyle/>
          <a:p>
            <a:pPr marR="0" defTabSz="914400">
              <a:buClrTx/>
              <a:buSzTx/>
              <a:buFontTx/>
              <a:buNone/>
              <a:defRPr/>
            </a:pPr>
            <a:r>
              <a:rPr kumimoji="0" lang="en-US" altLang="zh-CN" b="1" kern="1200" cap="none" spc="0" normalizeH="0" baseline="0" noProof="0" dirty="0">
                <a:solidFill>
                  <a:srgbClr val="FF0066"/>
                </a:solidFill>
                <a:effectLst>
                  <a:outerShdw blurRad="50800" dir="5400000" algn="tl">
                    <a:srgbClr val="000000"/>
                  </a:outerShdw>
                </a:effectLst>
                <a:latin typeface="微软雅黑" panose="020B0503020204020204" charset="-122"/>
                <a:ea typeface="微软雅黑" panose="020B0503020204020204" charset="-122"/>
                <a:cs typeface="微软雅黑" panose="020B0503020204020204" charset="-122"/>
                <a:sym typeface="+mn-ea"/>
              </a:rPr>
              <a:t>3</a:t>
            </a:r>
            <a:r>
              <a:rPr kumimoji="0" lang="zh-CN" altLang="en-US" b="1" kern="1200" cap="none" spc="0" normalizeH="0" baseline="0" noProof="0" dirty="0">
                <a:solidFill>
                  <a:srgbClr val="FF0066"/>
                </a:solidFill>
                <a:effectLst>
                  <a:outerShdw blurRad="50800" dir="5400000" algn="tl">
                    <a:srgbClr val="000000"/>
                  </a:outerShdw>
                </a:effectLst>
                <a:latin typeface="微软雅黑" panose="020B0503020204020204" charset="-122"/>
                <a:ea typeface="微软雅黑" panose="020B0503020204020204" charset="-122"/>
                <a:cs typeface="微软雅黑" panose="020B0503020204020204" charset="-122"/>
                <a:sym typeface="+mn-ea"/>
              </a:rPr>
              <a:t>、实验内容</a:t>
            </a:r>
            <a:endParaRPr kumimoji="0" lang="zh-CN" altLang="en-US" b="1" kern="1200" cap="none" spc="0" normalizeH="0" baseline="0" noProof="0" dirty="0">
              <a:solidFill>
                <a:srgbClr val="FF0066"/>
              </a:solidFill>
              <a:effectLst>
                <a:outerShdw blurRad="50800" dir="5400000" algn="tl">
                  <a:srgbClr val="000000"/>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10242" name="Rectangle 3"/>
          <p:cNvSpPr>
            <a:spLocks noGrp="1" noChangeArrowheads="1"/>
          </p:cNvSpPr>
          <p:nvPr>
            <p:ph idx="1"/>
          </p:nvPr>
        </p:nvSpPr>
        <p:spPr>
          <a:xfrm>
            <a:off x="467360" y="1917065"/>
            <a:ext cx="8549005" cy="3778885"/>
          </a:xfrm>
        </p:spPr>
        <p:txBody>
          <a:bodyPr/>
          <a:p>
            <a:pPr>
              <a:lnSpc>
                <a:spcPct val="150000"/>
              </a:lnSpc>
              <a:spcBef>
                <a:spcPts val="0"/>
              </a:spcBef>
              <a:buNone/>
            </a:pPr>
            <a:r>
              <a:rPr lang="en-US" altLang="zh-CN" sz="2400" dirty="0">
                <a:latin typeface="微软雅黑" panose="020B0503020204020204" charset="-122"/>
                <a:ea typeface="微软雅黑" panose="020B0503020204020204" charset="-122"/>
                <a:cs typeface="微软雅黑" panose="020B0503020204020204" charset="-122"/>
              </a:rPr>
              <a:t>3.1</a:t>
            </a:r>
            <a:r>
              <a:rPr lang="zh-CN" altLang="en-US" sz="2400" dirty="0">
                <a:latin typeface="微软雅黑" panose="020B0503020204020204" charset="-122"/>
                <a:ea typeface="微软雅黑" panose="020B0503020204020204" charset="-122"/>
                <a:cs typeface="微软雅黑" panose="020B0503020204020204" charset="-122"/>
              </a:rPr>
              <a:t>．</a:t>
            </a:r>
            <a:r>
              <a:rPr sz="2400" dirty="0">
                <a:latin typeface="Times New Roman" panose="02020603050405020304" pitchFamily="18" charset="0"/>
                <a:ea typeface="微软雅黑" panose="020B0503020204020204" charset="-122"/>
                <a:cs typeface="Times New Roman" panose="02020603050405020304" pitchFamily="18" charset="0"/>
              </a:rPr>
              <a:t>图像的基本操作</a:t>
            </a:r>
            <a:endParaRPr lang="en-US" altLang="zh-CN" sz="2400" dirty="0">
              <a:latin typeface="Times New Roman" panose="02020603050405020304" pitchFamily="18" charset="0"/>
              <a:ea typeface="微软雅黑" panose="020B0503020204020204" charset="-122"/>
              <a:cs typeface="Times New Roman" panose="02020603050405020304" pitchFamily="18" charset="0"/>
            </a:endParaRPr>
          </a:p>
          <a:p>
            <a:pPr>
              <a:lnSpc>
                <a:spcPct val="150000"/>
              </a:lnSpc>
              <a:buNone/>
            </a:pPr>
            <a:r>
              <a:rPr lang="en-US" sz="2400">
                <a:ea typeface="微软雅黑" panose="020B0503020204020204" charset="-122"/>
              </a:rPr>
              <a:t>5</a:t>
            </a:r>
            <a:r>
              <a:rPr altLang="zh-CN" sz="2400">
                <a:ea typeface="微软雅黑" panose="020B0503020204020204" charset="-122"/>
              </a:rPr>
              <a:t>．利用imfinfo 函数来获取图像文件的详细信息； </a:t>
            </a:r>
            <a:endParaRPr altLang="zh-CN" sz="2400">
              <a:ea typeface="微软雅黑" panose="020B0503020204020204" charset="-122"/>
            </a:endParaRPr>
          </a:p>
          <a:p>
            <a:pPr>
              <a:lnSpc>
                <a:spcPct val="150000"/>
              </a:lnSpc>
              <a:buNone/>
            </a:pPr>
            <a:r>
              <a:rPr lang="en-US" sz="2400">
                <a:ea typeface="微软雅黑" panose="020B0503020204020204" charset="-122"/>
              </a:rPr>
              <a:t>6</a:t>
            </a:r>
            <a:r>
              <a:rPr altLang="zh-CN" sz="2400">
                <a:ea typeface="微软雅黑" panose="020B0503020204020204" charset="-122"/>
              </a:rPr>
              <a:t>．利用imwrite()函数来存储这幅图像，将其保存为</a:t>
            </a:r>
            <a:r>
              <a:rPr lang="en-US" sz="2400">
                <a:ea typeface="微软雅黑" panose="020B0503020204020204" charset="-122"/>
              </a:rPr>
              <a:t>8</a:t>
            </a:r>
            <a:r>
              <a:rPr lang="zh-CN" altLang="en-US" sz="2400">
                <a:ea typeface="微软雅黑" panose="020B0503020204020204" charset="-122"/>
              </a:rPr>
              <a:t>位</a:t>
            </a:r>
            <a:r>
              <a:rPr lang="en-US" sz="2400">
                <a:ea typeface="微软雅黑" panose="020B0503020204020204" charset="-122"/>
              </a:rPr>
              <a:t>bmp</a:t>
            </a:r>
            <a:r>
              <a:rPr altLang="zh-CN" sz="2400">
                <a:ea typeface="微软雅黑" panose="020B0503020204020204" charset="-122"/>
              </a:rPr>
              <a:t>文件</a:t>
            </a:r>
            <a:r>
              <a:rPr lang="zh-CN" sz="2400">
                <a:ea typeface="微软雅黑" panose="020B0503020204020204" charset="-122"/>
              </a:rPr>
              <a:t>，</a:t>
            </a:r>
            <a:r>
              <a:rPr altLang="zh-CN" sz="2400">
                <a:ea typeface="微软雅黑" panose="020B0503020204020204" charset="-122"/>
              </a:rPr>
              <a:t>设为</a:t>
            </a:r>
            <a:r>
              <a:rPr lang="en-US" altLang="zh-CN" sz="2400">
                <a:ea typeface="微软雅黑" panose="020B0503020204020204" charset="-122"/>
                <a:sym typeface="+mn-ea"/>
              </a:rPr>
              <a:t>“</a:t>
            </a:r>
            <a:r>
              <a:rPr lang="zh-CN" altLang="en-US" sz="2400" noProof="0" dirty="0">
                <a:solidFill>
                  <a:srgbClr val="FF0066"/>
                </a:solidFill>
                <a:effectLst/>
                <a:latin typeface="微软雅黑" panose="020B0503020204020204" charset="-122"/>
                <a:ea typeface="微软雅黑" panose="020B0503020204020204" charset="-122"/>
                <a:cs typeface="微软雅黑" panose="020B0503020204020204" charset="-122"/>
                <a:sym typeface="+mn-ea"/>
              </a:rPr>
              <a:t>姓名拼音</a:t>
            </a:r>
            <a:r>
              <a:rPr altLang="zh-CN" sz="2400">
                <a:ea typeface="微软雅黑" panose="020B0503020204020204" charset="-122"/>
                <a:sym typeface="+mn-ea"/>
              </a:rPr>
              <a:t>.</a:t>
            </a:r>
            <a:r>
              <a:rPr lang="en-US" sz="2400">
                <a:ea typeface="微软雅黑" panose="020B0503020204020204" charset="-122"/>
                <a:sym typeface="+mn-ea"/>
              </a:rPr>
              <a:t>bmp</a:t>
            </a:r>
            <a:r>
              <a:rPr lang="en-US" sz="2400">
                <a:ea typeface="微软雅黑" panose="020B0503020204020204" charset="-122"/>
                <a:sym typeface="+mn-ea"/>
              </a:rPr>
              <a:t>”</a:t>
            </a:r>
            <a:r>
              <a:rPr altLang="zh-CN" sz="2400">
                <a:ea typeface="微软雅黑" panose="020B0503020204020204" charset="-122"/>
              </a:rPr>
              <a:t>；</a:t>
            </a:r>
            <a:endParaRPr altLang="zh-CN" sz="2400">
              <a:ea typeface="微软雅黑" panose="020B0503020204020204" charset="-122"/>
            </a:endParaRPr>
          </a:p>
          <a:p>
            <a:pPr>
              <a:lnSpc>
                <a:spcPct val="150000"/>
              </a:lnSpc>
              <a:buNone/>
            </a:pPr>
            <a:r>
              <a:rPr lang="en-US" sz="2400">
                <a:ea typeface="微软雅黑" panose="020B0503020204020204" charset="-122"/>
              </a:rPr>
              <a:t>7</a:t>
            </a:r>
            <a:r>
              <a:rPr altLang="zh-CN" sz="2400">
                <a:ea typeface="微软雅黑" panose="020B0503020204020204" charset="-122"/>
              </a:rPr>
              <a:t>．用im2bw将一幅灰度图像转化为二值图像，并且用imshow</a:t>
            </a:r>
            <a:r>
              <a:rPr lang="en-US" sz="2400">
                <a:ea typeface="微软雅黑" panose="020B0503020204020204" charset="-122"/>
              </a:rPr>
              <a:t> </a:t>
            </a:r>
            <a:r>
              <a:rPr altLang="zh-CN" sz="2400">
                <a:ea typeface="微软雅黑" panose="020B0503020204020204" charset="-122"/>
              </a:rPr>
              <a:t>显示出来观察图像的特征。</a:t>
            </a:r>
            <a:endParaRPr altLang="zh-CN" sz="2400">
              <a:ea typeface="微软雅黑" panose="020B0503020204020204" charset="-122"/>
            </a:endParaRPr>
          </a:p>
        </p:txBody>
      </p:sp>
      <p:sp>
        <p:nvSpPr>
          <p:cNvPr id="33795" name="矩形 33794"/>
          <p:cNvSpPr/>
          <p:nvPr/>
        </p:nvSpPr>
        <p:spPr>
          <a:xfrm>
            <a:off x="570230" y="476885"/>
            <a:ext cx="8284845" cy="609600"/>
          </a:xfrm>
          <a:prstGeom prst="rect">
            <a:avLst/>
          </a:prstGeom>
          <a:noFill/>
          <a:ln w="12700">
            <a:noFill/>
          </a:ln>
          <a:effectLst>
            <a:outerShdw blurRad="50800" dist="38100" dir="2700000" algn="tl" rotWithShape="0">
              <a:prstClr val="black">
                <a:alpha val="40000"/>
              </a:prstClr>
            </a:outerShdw>
          </a:effectLst>
        </p:spPr>
        <p:txBody>
          <a:bodyPr/>
          <a:lstStyle/>
          <a:p>
            <a:pPr marL="457200" marR="0" lvl="0" indent="-457200" algn="l" defTabSz="914400" rtl="0" eaLnBrk="1" fontAlgn="base" latinLnBrk="0" hangingPunct="1">
              <a:lnSpc>
                <a:spcPct val="120000"/>
              </a:lnSpc>
              <a:spcBef>
                <a:spcPct val="20000"/>
              </a:spcBef>
              <a:spcAft>
                <a:spcPct val="0"/>
              </a:spcAft>
              <a:buClr>
                <a:schemeClr val="tx2"/>
              </a:buClr>
              <a:buSzPct val="90000"/>
              <a:buFont typeface="Symbol" panose="05050102010706020507" pitchFamily="18" charset="2"/>
              <a:buNone/>
              <a:defRPr/>
            </a:pPr>
            <a:r>
              <a:rPr kumimoji="0" lang="zh-CN" b="1" i="0" u="none" strike="noStrike" kern="1200" cap="none" spc="0" normalizeH="0" baseline="0" noProof="1">
                <a:ln>
                  <a:noFill/>
                </a:ln>
                <a:solidFill>
                  <a:srgbClr val="002060"/>
                </a:solidFill>
                <a:effectLst/>
                <a:uLnTx/>
                <a:uFillTx/>
                <a:latin typeface="微软雅黑" panose="020B0503020204020204" charset="-122"/>
                <a:ea typeface="微软雅黑" panose="020B0503020204020204" charset="-122"/>
                <a:cs typeface="微软雅黑" panose="020B0503020204020204" charset="-122"/>
              </a:rPr>
              <a:t>实验一</a:t>
            </a:r>
            <a:r>
              <a:rPr kumimoji="0" lang="en-US" altLang="zh-CN" b="1" i="0" u="none" strike="noStrike" kern="1200" cap="none" spc="0" normalizeH="0" baseline="0" noProof="1">
                <a:ln>
                  <a:noFill/>
                </a:ln>
                <a:solidFill>
                  <a:srgbClr val="002060"/>
                </a:solidFill>
                <a:effectLst/>
                <a:uLnTx/>
                <a:uFillTx/>
                <a:latin typeface="微软雅黑" panose="020B0503020204020204" charset="-122"/>
                <a:ea typeface="微软雅黑" panose="020B0503020204020204" charset="-122"/>
                <a:cs typeface="微软雅黑" panose="020B0503020204020204" charset="-122"/>
              </a:rPr>
              <a:t> </a:t>
            </a:r>
            <a:r>
              <a:rPr kumimoji="0" lang="zh-CN" b="1" i="0" u="none" strike="noStrike" kern="1200" cap="none" spc="0" normalizeH="0" baseline="0" noProof="1">
                <a:ln>
                  <a:noFill/>
                </a:ln>
                <a:solidFill>
                  <a:srgbClr val="002060"/>
                </a:solidFill>
                <a:effectLst/>
                <a:uLnTx/>
                <a:uFillTx/>
                <a:latin typeface="微软雅黑" panose="020B0503020204020204" charset="-122"/>
                <a:ea typeface="微软雅黑" panose="020B0503020204020204" charset="-122"/>
                <a:cs typeface="微软雅黑" panose="020B0503020204020204" charset="-122"/>
              </a:rPr>
              <a:t>数字图像的输入、输出、显示、直方图统计</a:t>
            </a:r>
            <a:endParaRPr kumimoji="0" lang="zh-CN" b="1" i="0" u="none" strike="noStrike" kern="1200" cap="none" spc="0" normalizeH="0" baseline="0" noProof="1">
              <a:ln>
                <a:noFill/>
              </a:ln>
              <a:solidFill>
                <a:srgbClr val="002060"/>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075" name="文本框 6151"/>
          <p:cNvSpPr txBox="1"/>
          <p:nvPr/>
        </p:nvSpPr>
        <p:spPr>
          <a:xfrm>
            <a:off x="1692275" y="6309360"/>
            <a:ext cx="5759450" cy="337185"/>
          </a:xfrm>
          <a:prstGeom prst="rect">
            <a:avLst/>
          </a:prstGeom>
          <a:noFill/>
          <a:ln w="9525">
            <a:noFill/>
          </a:ln>
        </p:spPr>
        <p:txBody>
          <a:bodyPr anchor="t" anchorCtr="0">
            <a:spAutoFit/>
          </a:bodyPr>
          <a:p>
            <a:pPr algn="ctr">
              <a:spcBef>
                <a:spcPct val="50000"/>
              </a:spcBef>
            </a:pPr>
            <a:r>
              <a:rPr lang="zh-CN" altLang="en-US" sz="1600" dirty="0">
                <a:solidFill>
                  <a:srgbClr val="6E859D"/>
                </a:solidFill>
                <a:latin typeface="华文楷体" panose="02010600040101010101" pitchFamily="2" charset="-122"/>
                <a:ea typeface="华文楷体" panose="02010600040101010101" pitchFamily="2" charset="-122"/>
              </a:rPr>
              <a:t>《数字图像处理》实验</a:t>
            </a:r>
            <a:r>
              <a:rPr lang="en-US" altLang="zh-CN" sz="1600" dirty="0">
                <a:solidFill>
                  <a:srgbClr val="6E859D"/>
                </a:solidFill>
                <a:latin typeface="华文楷体" panose="02010600040101010101" pitchFamily="2" charset="-122"/>
                <a:ea typeface="华文楷体" panose="02010600040101010101" pitchFamily="2" charset="-122"/>
              </a:rPr>
              <a:t>- </a:t>
            </a:r>
            <a:r>
              <a:rPr lang="zh-CN" altLang="en-US" sz="1600" dirty="0">
                <a:solidFill>
                  <a:srgbClr val="6E859D"/>
                </a:solidFill>
                <a:latin typeface="华文楷体" panose="02010600040101010101" pitchFamily="2" charset="-122"/>
                <a:ea typeface="华文楷体" panose="02010600040101010101" pitchFamily="2" charset="-122"/>
              </a:rPr>
              <a:t>电子信息与电气工程学院</a:t>
            </a:r>
            <a:endParaRPr lang="zh-CN" altLang="en-US" sz="1600" dirty="0">
              <a:solidFill>
                <a:srgbClr val="6E859D"/>
              </a:solidFill>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39750" y="1556703"/>
            <a:ext cx="2179955" cy="521970"/>
          </a:xfrm>
          <a:prstGeom prst="rect">
            <a:avLst/>
          </a:prstGeom>
          <a:noFill/>
        </p:spPr>
        <p:txBody>
          <a:bodyPr wrap="none">
            <a:spAutoFit/>
          </a:bodyPr>
          <a:lstStyle/>
          <a:p>
            <a:pPr marR="0" defTabSz="914400">
              <a:buClrTx/>
              <a:buSzTx/>
              <a:buFontTx/>
              <a:buNone/>
              <a:defRPr/>
            </a:pPr>
            <a:r>
              <a:rPr kumimoji="0" lang="en-US" altLang="zh-CN" b="1" kern="1200" cap="none" spc="0" normalizeH="0" baseline="0" noProof="0" dirty="0">
                <a:solidFill>
                  <a:srgbClr val="FF0066"/>
                </a:solidFill>
                <a:effectLst>
                  <a:outerShdw blurRad="50800" dir="5400000" algn="tl">
                    <a:srgbClr val="000000"/>
                  </a:outerShdw>
                </a:effectLst>
                <a:latin typeface="微软雅黑" panose="020B0503020204020204" charset="-122"/>
                <a:ea typeface="微软雅黑" panose="020B0503020204020204" charset="-122"/>
                <a:cs typeface="微软雅黑" panose="020B0503020204020204" charset="-122"/>
                <a:sym typeface="+mn-ea"/>
              </a:rPr>
              <a:t>3</a:t>
            </a:r>
            <a:r>
              <a:rPr kumimoji="0" lang="zh-CN" altLang="en-US" b="1" kern="1200" cap="none" spc="0" normalizeH="0" baseline="0" noProof="0" dirty="0">
                <a:solidFill>
                  <a:srgbClr val="FF0066"/>
                </a:solidFill>
                <a:effectLst>
                  <a:outerShdw blurRad="50800" dir="5400000" algn="tl">
                    <a:srgbClr val="000000"/>
                  </a:outerShdw>
                </a:effectLst>
                <a:latin typeface="微软雅黑" panose="020B0503020204020204" charset="-122"/>
                <a:ea typeface="微软雅黑" panose="020B0503020204020204" charset="-122"/>
                <a:cs typeface="微软雅黑" panose="020B0503020204020204" charset="-122"/>
                <a:sym typeface="+mn-ea"/>
              </a:rPr>
              <a:t>、实验内容</a:t>
            </a:r>
            <a:endParaRPr kumimoji="0" lang="zh-CN" altLang="en-US" b="1" kern="1200" cap="none" spc="0" normalizeH="0" baseline="0" noProof="0" dirty="0">
              <a:solidFill>
                <a:srgbClr val="FF0066"/>
              </a:solidFill>
              <a:effectLst>
                <a:outerShdw blurRad="50800" dir="5400000" algn="tl">
                  <a:srgbClr val="000000"/>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10242" name="Rectangle 3"/>
          <p:cNvSpPr>
            <a:spLocks noGrp="1" noChangeArrowheads="1"/>
          </p:cNvSpPr>
          <p:nvPr>
            <p:ph idx="1"/>
          </p:nvPr>
        </p:nvSpPr>
        <p:spPr>
          <a:xfrm>
            <a:off x="683895" y="2564765"/>
            <a:ext cx="7436485" cy="1894205"/>
          </a:xfrm>
        </p:spPr>
        <p:txBody>
          <a:bodyPr/>
          <a:p>
            <a:pPr>
              <a:lnSpc>
                <a:spcPct val="150000"/>
              </a:lnSpc>
              <a:spcBef>
                <a:spcPts val="0"/>
              </a:spcBef>
              <a:buNone/>
            </a:pPr>
            <a:r>
              <a:rPr lang="en-US" altLang="zh-CN" sz="2400" dirty="0">
                <a:latin typeface="微软雅黑" panose="020B0503020204020204" charset="-122"/>
                <a:ea typeface="微软雅黑" panose="020B0503020204020204" charset="-122"/>
                <a:cs typeface="微软雅黑" panose="020B0503020204020204" charset="-122"/>
              </a:rPr>
              <a:t>3.2</a:t>
            </a:r>
            <a:r>
              <a:rPr lang="zh-CN" altLang="en-US" sz="2400" dirty="0">
                <a:latin typeface="微软雅黑" panose="020B0503020204020204" charset="-122"/>
                <a:ea typeface="微软雅黑" panose="020B0503020204020204" charset="-122"/>
                <a:cs typeface="微软雅黑" panose="020B0503020204020204" charset="-122"/>
              </a:rPr>
              <a:t>．</a:t>
            </a:r>
            <a:r>
              <a:rPr sz="2400" dirty="0">
                <a:latin typeface="Times New Roman" panose="02020603050405020304" pitchFamily="18" charset="0"/>
                <a:ea typeface="微软雅黑" panose="020B0503020204020204" charset="-122"/>
                <a:cs typeface="Times New Roman" panose="02020603050405020304" pitchFamily="18" charset="0"/>
              </a:rPr>
              <a:t>编写对灰度图像进行直方图统计的程序，并将结果显示在屏幕上。 </a:t>
            </a:r>
            <a:endParaRPr sz="2400" dirty="0">
              <a:latin typeface="Times New Roman" panose="02020603050405020304" pitchFamily="18" charset="0"/>
              <a:ea typeface="微软雅黑" panose="020B0503020204020204" charset="-122"/>
              <a:cs typeface="Times New Roman" panose="02020603050405020304" pitchFamily="18" charset="0"/>
            </a:endParaRPr>
          </a:p>
          <a:p>
            <a:pPr>
              <a:lnSpc>
                <a:spcPct val="150000"/>
              </a:lnSpc>
              <a:buNone/>
            </a:pPr>
            <a:r>
              <a:rPr lang="en-US" altLang="zh-CN" sz="2400" dirty="0">
                <a:latin typeface="微软雅黑" panose="020B0503020204020204" charset="-122"/>
                <a:ea typeface="微软雅黑" panose="020B0503020204020204" charset="-122"/>
                <a:cs typeface="微软雅黑" panose="020B0503020204020204" charset="-122"/>
                <a:sym typeface="+mn-ea"/>
              </a:rPr>
              <a:t>3.3</a:t>
            </a:r>
            <a:r>
              <a:rPr lang="zh-CN" altLang="en-US" sz="2400" dirty="0">
                <a:latin typeface="微软雅黑" panose="020B0503020204020204" charset="-122"/>
                <a:ea typeface="微软雅黑" panose="020B0503020204020204" charset="-122"/>
                <a:cs typeface="微软雅黑" panose="020B0503020204020204" charset="-122"/>
                <a:sym typeface="+mn-ea"/>
              </a:rPr>
              <a:t>．记录和整理实验报告</a:t>
            </a:r>
            <a:endParaRPr lang="zh-CN" altLang="en-US" sz="2400" dirty="0">
              <a:latin typeface="微软雅黑" panose="020B0503020204020204" charset="-122"/>
              <a:ea typeface="微软雅黑" panose="020B0503020204020204" charset="-122"/>
              <a:cs typeface="微软雅黑" panose="020B0503020204020204" charset="-122"/>
              <a:sym typeface="+mn-ea"/>
            </a:endParaRPr>
          </a:p>
        </p:txBody>
      </p:sp>
      <p:sp>
        <p:nvSpPr>
          <p:cNvPr id="33795" name="矩形 33794"/>
          <p:cNvSpPr/>
          <p:nvPr/>
        </p:nvSpPr>
        <p:spPr>
          <a:xfrm>
            <a:off x="570230" y="476885"/>
            <a:ext cx="8284845" cy="609600"/>
          </a:xfrm>
          <a:prstGeom prst="rect">
            <a:avLst/>
          </a:prstGeom>
          <a:noFill/>
          <a:ln w="12700">
            <a:noFill/>
          </a:ln>
          <a:effectLst>
            <a:outerShdw blurRad="50800" dist="38100" dir="2700000" algn="tl" rotWithShape="0">
              <a:prstClr val="black">
                <a:alpha val="40000"/>
              </a:prstClr>
            </a:outerShdw>
          </a:effectLst>
        </p:spPr>
        <p:txBody>
          <a:bodyPr/>
          <a:lstStyle/>
          <a:p>
            <a:pPr marL="457200" marR="0" lvl="0" indent="-457200" algn="l" defTabSz="914400" rtl="0" eaLnBrk="1" fontAlgn="base" latinLnBrk="0" hangingPunct="1">
              <a:lnSpc>
                <a:spcPct val="120000"/>
              </a:lnSpc>
              <a:spcBef>
                <a:spcPct val="20000"/>
              </a:spcBef>
              <a:spcAft>
                <a:spcPct val="0"/>
              </a:spcAft>
              <a:buClr>
                <a:schemeClr val="tx2"/>
              </a:buClr>
              <a:buSzPct val="90000"/>
              <a:buFont typeface="Symbol" panose="05050102010706020507" pitchFamily="18" charset="2"/>
              <a:buNone/>
              <a:defRPr/>
            </a:pPr>
            <a:r>
              <a:rPr kumimoji="0" lang="zh-CN" b="1" i="0" u="none" strike="noStrike" kern="1200" cap="none" spc="0" normalizeH="0" baseline="0" noProof="1">
                <a:ln>
                  <a:noFill/>
                </a:ln>
                <a:solidFill>
                  <a:srgbClr val="002060"/>
                </a:solidFill>
                <a:effectLst/>
                <a:uLnTx/>
                <a:uFillTx/>
                <a:latin typeface="微软雅黑" panose="020B0503020204020204" charset="-122"/>
                <a:ea typeface="微软雅黑" panose="020B0503020204020204" charset="-122"/>
                <a:cs typeface="微软雅黑" panose="020B0503020204020204" charset="-122"/>
              </a:rPr>
              <a:t>实验一</a:t>
            </a:r>
            <a:r>
              <a:rPr kumimoji="0" lang="en-US" altLang="zh-CN" b="1" i="0" u="none" strike="noStrike" kern="1200" cap="none" spc="0" normalizeH="0" baseline="0" noProof="1">
                <a:ln>
                  <a:noFill/>
                </a:ln>
                <a:solidFill>
                  <a:srgbClr val="002060"/>
                </a:solidFill>
                <a:effectLst/>
                <a:uLnTx/>
                <a:uFillTx/>
                <a:latin typeface="微软雅黑" panose="020B0503020204020204" charset="-122"/>
                <a:ea typeface="微软雅黑" panose="020B0503020204020204" charset="-122"/>
                <a:cs typeface="微软雅黑" panose="020B0503020204020204" charset="-122"/>
              </a:rPr>
              <a:t> </a:t>
            </a:r>
            <a:r>
              <a:rPr kumimoji="0" lang="zh-CN" b="1" i="0" u="none" strike="noStrike" kern="1200" cap="none" spc="0" normalizeH="0" baseline="0" noProof="1">
                <a:ln>
                  <a:noFill/>
                </a:ln>
                <a:solidFill>
                  <a:srgbClr val="002060"/>
                </a:solidFill>
                <a:effectLst/>
                <a:uLnTx/>
                <a:uFillTx/>
                <a:latin typeface="微软雅黑" panose="020B0503020204020204" charset="-122"/>
                <a:ea typeface="微软雅黑" panose="020B0503020204020204" charset="-122"/>
                <a:cs typeface="微软雅黑" panose="020B0503020204020204" charset="-122"/>
              </a:rPr>
              <a:t>数字图像的输入、输出、显示、直方图统计</a:t>
            </a:r>
            <a:endParaRPr kumimoji="0" lang="zh-CN" b="1" i="0" u="none" strike="noStrike" kern="1200" cap="none" spc="0" normalizeH="0" baseline="0" noProof="1">
              <a:ln>
                <a:noFill/>
              </a:ln>
              <a:solidFill>
                <a:srgbClr val="002060"/>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075" name="文本框 6151"/>
          <p:cNvSpPr txBox="1"/>
          <p:nvPr/>
        </p:nvSpPr>
        <p:spPr>
          <a:xfrm>
            <a:off x="1692275" y="6309360"/>
            <a:ext cx="5759450" cy="337185"/>
          </a:xfrm>
          <a:prstGeom prst="rect">
            <a:avLst/>
          </a:prstGeom>
          <a:noFill/>
          <a:ln w="9525">
            <a:noFill/>
          </a:ln>
        </p:spPr>
        <p:txBody>
          <a:bodyPr anchor="t" anchorCtr="0">
            <a:spAutoFit/>
          </a:bodyPr>
          <a:p>
            <a:pPr algn="ctr">
              <a:spcBef>
                <a:spcPct val="50000"/>
              </a:spcBef>
            </a:pPr>
            <a:r>
              <a:rPr lang="zh-CN" altLang="en-US" sz="1600" dirty="0">
                <a:solidFill>
                  <a:srgbClr val="6E859D"/>
                </a:solidFill>
                <a:latin typeface="华文楷体" panose="02010600040101010101" pitchFamily="2" charset="-122"/>
                <a:ea typeface="华文楷体" panose="02010600040101010101" pitchFamily="2" charset="-122"/>
              </a:rPr>
              <a:t>《数字图像处理》实验</a:t>
            </a:r>
            <a:r>
              <a:rPr lang="en-US" altLang="zh-CN" sz="1600" dirty="0">
                <a:solidFill>
                  <a:srgbClr val="6E859D"/>
                </a:solidFill>
                <a:latin typeface="华文楷体" panose="02010600040101010101" pitchFamily="2" charset="-122"/>
                <a:ea typeface="华文楷体" panose="02010600040101010101" pitchFamily="2" charset="-122"/>
              </a:rPr>
              <a:t>- </a:t>
            </a:r>
            <a:r>
              <a:rPr lang="zh-CN" altLang="en-US" sz="1600" dirty="0">
                <a:solidFill>
                  <a:srgbClr val="6E859D"/>
                </a:solidFill>
                <a:latin typeface="华文楷体" panose="02010600040101010101" pitchFamily="2" charset="-122"/>
                <a:ea typeface="华文楷体" panose="02010600040101010101" pitchFamily="2" charset="-122"/>
              </a:rPr>
              <a:t>电子信息与电气工程学院</a:t>
            </a:r>
            <a:endParaRPr lang="zh-CN" altLang="en-US" sz="1600" dirty="0">
              <a:solidFill>
                <a:srgbClr val="6E859D"/>
              </a:solidFill>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39750" y="1341438"/>
            <a:ext cx="2179955" cy="521970"/>
          </a:xfrm>
          <a:prstGeom prst="rect">
            <a:avLst/>
          </a:prstGeom>
          <a:noFill/>
        </p:spPr>
        <p:txBody>
          <a:bodyPr wrap="none">
            <a:spAutoFit/>
          </a:bodyPr>
          <a:lstStyle/>
          <a:p>
            <a:pPr marR="0" algn="l" defTabSz="914400">
              <a:buClrTx/>
              <a:buSzTx/>
              <a:buFontTx/>
              <a:buNone/>
              <a:defRPr/>
            </a:pPr>
            <a:r>
              <a:rPr kumimoji="0" lang="en-US" altLang="zh-CN" b="1" kern="1200" cap="none" spc="0" normalizeH="0" baseline="0" noProof="0" dirty="0">
                <a:solidFill>
                  <a:srgbClr val="FF0066"/>
                </a:solidFill>
                <a:effectLst>
                  <a:outerShdw blurRad="50800" dir="5400000" algn="tl">
                    <a:srgbClr val="000000"/>
                  </a:outerShdw>
                </a:effectLst>
                <a:latin typeface="微软雅黑" panose="020B0503020204020204" charset="-122"/>
                <a:ea typeface="微软雅黑" panose="020B0503020204020204" charset="-122"/>
                <a:cs typeface="微软雅黑" panose="020B0503020204020204" charset="-122"/>
                <a:sym typeface="+mn-ea"/>
              </a:rPr>
              <a:t>4</a:t>
            </a:r>
            <a:r>
              <a:rPr kumimoji="0" lang="zh-CN" altLang="en-US" b="1" kern="1200" cap="none" spc="0" normalizeH="0" baseline="0" noProof="0" dirty="0">
                <a:solidFill>
                  <a:srgbClr val="FF0066"/>
                </a:solidFill>
                <a:effectLst>
                  <a:outerShdw blurRad="50800" dir="5400000" algn="tl">
                    <a:srgbClr val="000000"/>
                  </a:outerShdw>
                </a:effectLst>
                <a:latin typeface="微软雅黑" panose="020B0503020204020204" charset="-122"/>
                <a:ea typeface="微软雅黑" panose="020B0503020204020204" charset="-122"/>
                <a:cs typeface="微软雅黑" panose="020B0503020204020204" charset="-122"/>
                <a:sym typeface="+mn-ea"/>
              </a:rPr>
              <a:t>、报告要求</a:t>
            </a:r>
            <a:endParaRPr kumimoji="0" lang="zh-CN" altLang="en-US" sz="2000" b="1" kern="1200" cap="none" spc="0" normalizeH="0" baseline="0" noProof="0" dirty="0">
              <a:solidFill>
                <a:srgbClr val="FF0066"/>
              </a:solidFill>
              <a:effectLst>
                <a:outerShdw blurRad="50800" dir="5400000" algn="tl">
                  <a:srgbClr val="000000"/>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14339" name="文本框 38918"/>
          <p:cNvSpPr txBox="1"/>
          <p:nvPr/>
        </p:nvSpPr>
        <p:spPr>
          <a:xfrm>
            <a:off x="683578" y="2277110"/>
            <a:ext cx="7905750" cy="3192780"/>
          </a:xfrm>
          <a:prstGeom prst="rect">
            <a:avLst/>
          </a:prstGeom>
          <a:noFill/>
          <a:ln w="9525">
            <a:noFill/>
          </a:ln>
        </p:spPr>
        <p:txBody>
          <a:bodyPr wrap="square" anchor="t" anchorCtr="0">
            <a:spAutoFit/>
          </a:bodyPr>
          <a:lstStyle/>
          <a:p>
            <a:pPr>
              <a:lnSpc>
                <a:spcPct val="120000"/>
              </a:lnSpc>
            </a:pPr>
            <a:r>
              <a:rPr lang="en-US" altLang="zh-CN" sz="2400" dirty="0">
                <a:latin typeface="微软雅黑" panose="020B0503020204020204" charset="-122"/>
                <a:ea typeface="微软雅黑" panose="020B0503020204020204" charset="-122"/>
                <a:cs typeface="微软雅黑" panose="020B0503020204020204" charset="-122"/>
                <a:sym typeface="宋体" panose="02010600030101010101" pitchFamily="2" charset="-122"/>
              </a:rPr>
              <a:t>4.1</a:t>
            </a:r>
            <a:r>
              <a:rPr lang="zh-CN" altLang="en-US" sz="2400" dirty="0">
                <a:latin typeface="微软雅黑" panose="020B0503020204020204" charset="-122"/>
                <a:ea typeface="微软雅黑" panose="020B0503020204020204" charset="-122"/>
                <a:cs typeface="微软雅黑" panose="020B0503020204020204" charset="-122"/>
                <a:sym typeface="宋体" panose="02010600030101010101" pitchFamily="2" charset="-122"/>
              </a:rPr>
              <a:t>、</a:t>
            </a:r>
            <a:r>
              <a:rPr lang="zh-CN" altLang="zh-CN" sz="2400" dirty="0">
                <a:latin typeface="微软雅黑" panose="020B0503020204020204" charset="-122"/>
                <a:ea typeface="微软雅黑" panose="020B0503020204020204" charset="-122"/>
                <a:cs typeface="微软雅黑" panose="020B0503020204020204" charset="-122"/>
                <a:sym typeface="+mn-ea"/>
              </a:rPr>
              <a:t>阐明实验的目的、原理和内容；</a:t>
            </a:r>
            <a:endParaRPr lang="zh-CN" altLang="zh-CN" sz="2400" dirty="0">
              <a:latin typeface="微软雅黑" panose="020B0503020204020204" charset="-122"/>
              <a:ea typeface="微软雅黑" panose="020B0503020204020204" charset="-122"/>
              <a:cs typeface="微软雅黑" panose="020B0503020204020204" charset="-122"/>
              <a:sym typeface="宋体" panose="02010600030101010101" pitchFamily="2" charset="-122"/>
            </a:endParaRPr>
          </a:p>
          <a:p>
            <a:pPr>
              <a:lnSpc>
                <a:spcPct val="120000"/>
              </a:lnSpc>
            </a:pPr>
            <a:endParaRPr lang="zh-CN" altLang="zh-CN" sz="2400" dirty="0">
              <a:latin typeface="微软雅黑" panose="020B0503020204020204" charset="-122"/>
              <a:ea typeface="微软雅黑" panose="020B0503020204020204" charset="-122"/>
              <a:cs typeface="微软雅黑" panose="020B0503020204020204" charset="-122"/>
            </a:endParaRPr>
          </a:p>
          <a:p>
            <a:pPr>
              <a:lnSpc>
                <a:spcPct val="120000"/>
              </a:lnSpc>
            </a:pPr>
            <a:r>
              <a:rPr lang="en-US" altLang="zh-CN" sz="2400" dirty="0">
                <a:latin typeface="微软雅黑" panose="020B0503020204020204" charset="-122"/>
                <a:ea typeface="微软雅黑" panose="020B0503020204020204" charset="-122"/>
                <a:cs typeface="微软雅黑" panose="020B0503020204020204" charset="-122"/>
              </a:rPr>
              <a:t>4.2</a:t>
            </a:r>
            <a:r>
              <a:rPr lang="zh-CN" altLang="en-US" sz="2400" dirty="0">
                <a:latin typeface="微软雅黑" panose="020B0503020204020204" charset="-122"/>
                <a:ea typeface="微软雅黑" panose="020B0503020204020204" charset="-122"/>
                <a:cs typeface="微软雅黑" panose="020B0503020204020204" charset="-122"/>
              </a:rPr>
              <a:t>、</a:t>
            </a:r>
            <a:r>
              <a:rPr lang="zh-CN" altLang="zh-CN" sz="2400" dirty="0">
                <a:latin typeface="微软雅黑" panose="020B0503020204020204" charset="-122"/>
                <a:ea typeface="微软雅黑" panose="020B0503020204020204" charset="-122"/>
                <a:cs typeface="微软雅黑" panose="020B0503020204020204" charset="-122"/>
                <a:sym typeface="+mn-ea"/>
              </a:rPr>
              <a:t>打印主要程序并粘贴在实验报告中；</a:t>
            </a:r>
            <a:endParaRPr lang="zh-CN" altLang="zh-CN" sz="2400" dirty="0">
              <a:latin typeface="微软雅黑" panose="020B0503020204020204" charset="-122"/>
              <a:ea typeface="微软雅黑" panose="020B0503020204020204" charset="-122"/>
              <a:cs typeface="微软雅黑" panose="020B0503020204020204" charset="-122"/>
            </a:endParaRPr>
          </a:p>
          <a:p>
            <a:pPr>
              <a:lnSpc>
                <a:spcPct val="120000"/>
              </a:lnSpc>
            </a:pPr>
            <a:endParaRPr lang="zh-CN" altLang="zh-CN" sz="2400" dirty="0">
              <a:latin typeface="微软雅黑" panose="020B0503020204020204" charset="-122"/>
              <a:ea typeface="微软雅黑" panose="020B0503020204020204" charset="-122"/>
              <a:cs typeface="微软雅黑" panose="020B0503020204020204" charset="-122"/>
            </a:endParaRPr>
          </a:p>
          <a:p>
            <a:pPr>
              <a:lnSpc>
                <a:spcPct val="120000"/>
              </a:lnSpc>
            </a:pPr>
            <a:r>
              <a:rPr lang="en-US" altLang="zh-CN" sz="2400" dirty="0">
                <a:latin typeface="微软雅黑" panose="020B0503020204020204" charset="-122"/>
                <a:ea typeface="微软雅黑" panose="020B0503020204020204" charset="-122"/>
                <a:cs typeface="微软雅黑" panose="020B0503020204020204" charset="-122"/>
              </a:rPr>
              <a:t>4.3</a:t>
            </a:r>
            <a:r>
              <a:rPr lang="zh-CN" altLang="en-US" sz="2400" dirty="0">
                <a:latin typeface="微软雅黑" panose="020B0503020204020204" charset="-122"/>
                <a:ea typeface="微软雅黑" panose="020B0503020204020204" charset="-122"/>
                <a:cs typeface="微软雅黑" panose="020B0503020204020204" charset="-122"/>
              </a:rPr>
              <a:t>、</a:t>
            </a:r>
            <a:r>
              <a:rPr lang="zh-CN" altLang="zh-CN" sz="2400" dirty="0">
                <a:latin typeface="微软雅黑" panose="020B0503020204020204" charset="-122"/>
                <a:ea typeface="微软雅黑" panose="020B0503020204020204" charset="-122"/>
                <a:cs typeface="微软雅黑" panose="020B0503020204020204" charset="-122"/>
                <a:sym typeface="+mn-ea"/>
              </a:rPr>
              <a:t>打印实验结果并粘贴在实验报告中；</a:t>
            </a:r>
            <a:endParaRPr lang="zh-CN" altLang="en-US" sz="2400" dirty="0">
              <a:latin typeface="微软雅黑" panose="020B0503020204020204" charset="-122"/>
              <a:ea typeface="微软雅黑" panose="020B0503020204020204" charset="-122"/>
              <a:cs typeface="微软雅黑" panose="020B0503020204020204" charset="-122"/>
            </a:endParaRPr>
          </a:p>
          <a:p>
            <a:pPr>
              <a:lnSpc>
                <a:spcPct val="120000"/>
              </a:lnSpc>
            </a:pPr>
            <a:endParaRPr lang="zh-CN" altLang="en-US" sz="2400" dirty="0">
              <a:latin typeface="微软雅黑" panose="020B0503020204020204" charset="-122"/>
              <a:ea typeface="微软雅黑" panose="020B0503020204020204" charset="-122"/>
              <a:cs typeface="微软雅黑" panose="020B0503020204020204" charset="-122"/>
            </a:endParaRPr>
          </a:p>
          <a:p>
            <a:pPr>
              <a:lnSpc>
                <a:spcPct val="120000"/>
              </a:lnSpc>
            </a:pPr>
            <a:r>
              <a:rPr lang="en-US" altLang="zh-CN" sz="2400" dirty="0">
                <a:latin typeface="微软雅黑" panose="020B0503020204020204" charset="-122"/>
                <a:ea typeface="微软雅黑" panose="020B0503020204020204" charset="-122"/>
                <a:cs typeface="微软雅黑" panose="020B0503020204020204" charset="-122"/>
                <a:sym typeface="+mn-ea"/>
              </a:rPr>
              <a:t>4.4</a:t>
            </a:r>
            <a:r>
              <a:rPr lang="zh-CN" altLang="en-US" sz="2400" dirty="0">
                <a:latin typeface="微软雅黑" panose="020B0503020204020204" charset="-122"/>
                <a:ea typeface="微软雅黑" panose="020B0503020204020204" charset="-122"/>
                <a:cs typeface="微软雅黑" panose="020B0503020204020204" charset="-122"/>
                <a:sym typeface="+mn-ea"/>
              </a:rPr>
              <a:t>、</a:t>
            </a:r>
            <a:r>
              <a:rPr lang="zh-CN" altLang="zh-CN" sz="2400" dirty="0">
                <a:latin typeface="微软雅黑" panose="020B0503020204020204" charset="-122"/>
                <a:ea typeface="微软雅黑" panose="020B0503020204020204" charset="-122"/>
                <a:cs typeface="微软雅黑" panose="020B0503020204020204" charset="-122"/>
                <a:sym typeface="+mn-ea"/>
              </a:rPr>
              <a:t>针对实验结果加以分析和总结</a:t>
            </a:r>
            <a:r>
              <a:rPr lang="zh-CN" altLang="en-US" sz="2400" dirty="0">
                <a:latin typeface="微软雅黑" panose="020B0503020204020204" charset="-122"/>
                <a:ea typeface="微软雅黑" panose="020B0503020204020204" charset="-122"/>
                <a:cs typeface="微软雅黑" panose="020B0503020204020204" charset="-122"/>
                <a:sym typeface="+mn-ea"/>
              </a:rPr>
              <a:t>。</a:t>
            </a:r>
            <a:endParaRPr lang="zh-CN" altLang="en-US" sz="2400" dirty="0">
              <a:latin typeface="微软雅黑" panose="020B0503020204020204" charset="-122"/>
              <a:ea typeface="微软雅黑" panose="020B0503020204020204" charset="-122"/>
              <a:cs typeface="微软雅黑" panose="020B0503020204020204" charset="-122"/>
            </a:endParaRPr>
          </a:p>
        </p:txBody>
      </p:sp>
      <p:sp>
        <p:nvSpPr>
          <p:cNvPr id="33795" name="矩形 33794"/>
          <p:cNvSpPr/>
          <p:nvPr/>
        </p:nvSpPr>
        <p:spPr>
          <a:xfrm>
            <a:off x="570230" y="476885"/>
            <a:ext cx="8284845" cy="609600"/>
          </a:xfrm>
          <a:prstGeom prst="rect">
            <a:avLst/>
          </a:prstGeom>
          <a:noFill/>
          <a:ln w="12700">
            <a:noFill/>
          </a:ln>
          <a:effectLst>
            <a:outerShdw blurRad="50800" dist="38100" dir="2700000" algn="tl" rotWithShape="0">
              <a:prstClr val="black">
                <a:alpha val="40000"/>
              </a:prstClr>
            </a:outerShdw>
          </a:effectLst>
        </p:spPr>
        <p:txBody>
          <a:bodyPr/>
          <a:lstStyle/>
          <a:p>
            <a:pPr marL="457200" marR="0" lvl="0" indent="-457200" algn="l" defTabSz="914400" rtl="0" eaLnBrk="1" fontAlgn="base" latinLnBrk="0" hangingPunct="1">
              <a:lnSpc>
                <a:spcPct val="120000"/>
              </a:lnSpc>
              <a:spcBef>
                <a:spcPct val="20000"/>
              </a:spcBef>
              <a:spcAft>
                <a:spcPct val="0"/>
              </a:spcAft>
              <a:buClr>
                <a:schemeClr val="tx2"/>
              </a:buClr>
              <a:buSzPct val="90000"/>
              <a:buFont typeface="Symbol" panose="05050102010706020507" pitchFamily="18" charset="2"/>
              <a:buNone/>
              <a:defRPr/>
            </a:pPr>
            <a:r>
              <a:rPr kumimoji="0" lang="zh-CN" b="1" i="0" u="none" strike="noStrike" kern="1200" cap="none" spc="0" normalizeH="0" baseline="0" noProof="1">
                <a:ln>
                  <a:noFill/>
                </a:ln>
                <a:solidFill>
                  <a:srgbClr val="002060"/>
                </a:solidFill>
                <a:effectLst/>
                <a:uLnTx/>
                <a:uFillTx/>
                <a:latin typeface="微软雅黑" panose="020B0503020204020204" charset="-122"/>
                <a:ea typeface="微软雅黑" panose="020B0503020204020204" charset="-122"/>
                <a:cs typeface="微软雅黑" panose="020B0503020204020204" charset="-122"/>
              </a:rPr>
              <a:t>实验一</a:t>
            </a:r>
            <a:r>
              <a:rPr kumimoji="0" lang="en-US" altLang="zh-CN" b="1" i="0" u="none" strike="noStrike" kern="1200" cap="none" spc="0" normalizeH="0" baseline="0" noProof="1">
                <a:ln>
                  <a:noFill/>
                </a:ln>
                <a:solidFill>
                  <a:srgbClr val="002060"/>
                </a:solidFill>
                <a:effectLst/>
                <a:uLnTx/>
                <a:uFillTx/>
                <a:latin typeface="微软雅黑" panose="020B0503020204020204" charset="-122"/>
                <a:ea typeface="微软雅黑" panose="020B0503020204020204" charset="-122"/>
                <a:cs typeface="微软雅黑" panose="020B0503020204020204" charset="-122"/>
              </a:rPr>
              <a:t> </a:t>
            </a:r>
            <a:r>
              <a:rPr kumimoji="0" lang="zh-CN" b="1" i="0" u="none" strike="noStrike" kern="1200" cap="none" spc="0" normalizeH="0" baseline="0" noProof="1">
                <a:ln>
                  <a:noFill/>
                </a:ln>
                <a:solidFill>
                  <a:srgbClr val="002060"/>
                </a:solidFill>
                <a:effectLst/>
                <a:uLnTx/>
                <a:uFillTx/>
                <a:latin typeface="微软雅黑" panose="020B0503020204020204" charset="-122"/>
                <a:ea typeface="微软雅黑" panose="020B0503020204020204" charset="-122"/>
                <a:cs typeface="微软雅黑" panose="020B0503020204020204" charset="-122"/>
              </a:rPr>
              <a:t>数字图像的输入、输出、显示、直方图统计</a:t>
            </a:r>
            <a:endParaRPr kumimoji="0" lang="zh-CN" b="1" i="0" u="none" strike="noStrike" kern="1200" cap="none" spc="0" normalizeH="0" baseline="0" noProof="1">
              <a:ln>
                <a:noFill/>
              </a:ln>
              <a:solidFill>
                <a:srgbClr val="002060"/>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 name="文本框 6151"/>
          <p:cNvSpPr txBox="1"/>
          <p:nvPr/>
        </p:nvSpPr>
        <p:spPr>
          <a:xfrm>
            <a:off x="1692275" y="6309360"/>
            <a:ext cx="5759450" cy="337185"/>
          </a:xfrm>
          <a:prstGeom prst="rect">
            <a:avLst/>
          </a:prstGeom>
          <a:noFill/>
          <a:ln w="9525">
            <a:noFill/>
          </a:ln>
        </p:spPr>
        <p:txBody>
          <a:bodyPr anchor="t" anchorCtr="0">
            <a:spAutoFit/>
          </a:bodyPr>
          <a:p>
            <a:pPr algn="ctr">
              <a:spcBef>
                <a:spcPct val="50000"/>
              </a:spcBef>
            </a:pPr>
            <a:r>
              <a:rPr lang="zh-CN" altLang="en-US" sz="1600" dirty="0">
                <a:solidFill>
                  <a:srgbClr val="6E859D"/>
                </a:solidFill>
                <a:latin typeface="华文楷体" panose="02010600040101010101" pitchFamily="2" charset="-122"/>
                <a:ea typeface="华文楷体" panose="02010600040101010101" pitchFamily="2" charset="-122"/>
              </a:rPr>
              <a:t>《数字图像处理》实验</a:t>
            </a:r>
            <a:r>
              <a:rPr lang="en-US" altLang="zh-CN" sz="1600" dirty="0">
                <a:solidFill>
                  <a:srgbClr val="6E859D"/>
                </a:solidFill>
                <a:latin typeface="华文楷体" panose="02010600040101010101" pitchFamily="2" charset="-122"/>
                <a:ea typeface="华文楷体" panose="02010600040101010101" pitchFamily="2" charset="-122"/>
              </a:rPr>
              <a:t>- </a:t>
            </a:r>
            <a:r>
              <a:rPr lang="zh-CN" altLang="en-US" sz="1600" dirty="0">
                <a:solidFill>
                  <a:srgbClr val="6E859D"/>
                </a:solidFill>
                <a:latin typeface="华文楷体" panose="02010600040101010101" pitchFamily="2" charset="-122"/>
                <a:ea typeface="华文楷体" panose="02010600040101010101" pitchFamily="2" charset="-122"/>
              </a:rPr>
              <a:t>电子信息与电气工程学院</a:t>
            </a:r>
            <a:endParaRPr lang="zh-CN" altLang="en-US" sz="1600" dirty="0">
              <a:solidFill>
                <a:srgbClr val="6E859D"/>
              </a:solidFill>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Effect transition="in" filter="blinds(horizontal)">
                                      <p:cBhvr>
                                        <p:cTn id="7" dur="500"/>
                                        <p:tgtEl>
                                          <p:spTgt spid="143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4339">
                                            <p:txEl>
                                              <p:pRg st="2" end="2"/>
                                            </p:txEl>
                                          </p:spTgt>
                                        </p:tgtEl>
                                        <p:attrNameLst>
                                          <p:attrName>style.visibility</p:attrName>
                                        </p:attrNameLst>
                                      </p:cBhvr>
                                      <p:to>
                                        <p:strVal val="visible"/>
                                      </p:to>
                                    </p:set>
                                    <p:animEffect transition="in" filter="blinds(horizontal)">
                                      <p:cBhvr>
                                        <p:cTn id="12" dur="500"/>
                                        <p:tgtEl>
                                          <p:spTgt spid="1433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4339">
                                            <p:txEl>
                                              <p:pRg st="4" end="4"/>
                                            </p:txEl>
                                          </p:spTgt>
                                        </p:tgtEl>
                                        <p:attrNameLst>
                                          <p:attrName>style.visibility</p:attrName>
                                        </p:attrNameLst>
                                      </p:cBhvr>
                                      <p:to>
                                        <p:strVal val="visible"/>
                                      </p:to>
                                    </p:set>
                                    <p:animEffect transition="in" filter="blinds(horizontal)">
                                      <p:cBhvr>
                                        <p:cTn id="17" dur="500"/>
                                        <p:tgtEl>
                                          <p:spTgt spid="14339">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4339">
                                            <p:txEl>
                                              <p:pRg st="6" end="6"/>
                                            </p:txEl>
                                          </p:spTgt>
                                        </p:tgtEl>
                                        <p:attrNameLst>
                                          <p:attrName>style.visibility</p:attrName>
                                        </p:attrNameLst>
                                      </p:cBhvr>
                                      <p:to>
                                        <p:strVal val="visible"/>
                                      </p:to>
                                    </p:set>
                                    <p:animEffect transition="in" filter="blinds(horizontal)">
                                      <p:cBhvr>
                                        <p:cTn id="22" dur="500"/>
                                        <p:tgtEl>
                                          <p:spTgt spid="1433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11505" y="1700848"/>
            <a:ext cx="1824355" cy="521970"/>
          </a:xfrm>
          <a:prstGeom prst="rect">
            <a:avLst/>
          </a:prstGeom>
          <a:noFill/>
        </p:spPr>
        <p:txBody>
          <a:bodyPr wrap="none">
            <a:spAutoFit/>
          </a:bodyPr>
          <a:lstStyle/>
          <a:p>
            <a:pPr marR="0" algn="l" defTabSz="914400">
              <a:buClrTx/>
              <a:buSzTx/>
              <a:buFontTx/>
              <a:buNone/>
              <a:defRPr/>
            </a:pPr>
            <a:r>
              <a:rPr kumimoji="0" lang="en-US" altLang="zh-CN" b="1" kern="1200" cap="none" spc="0" normalizeH="0" baseline="0" noProof="0" dirty="0">
                <a:solidFill>
                  <a:srgbClr val="FF0066"/>
                </a:solidFill>
                <a:effectLst>
                  <a:outerShdw blurRad="50800" dir="5400000" algn="tl">
                    <a:srgbClr val="000000"/>
                  </a:outerShdw>
                </a:effectLst>
                <a:latin typeface="微软雅黑" panose="020B0503020204020204" charset="-122"/>
                <a:ea typeface="微软雅黑" panose="020B0503020204020204" charset="-122"/>
                <a:cs typeface="微软雅黑" panose="020B0503020204020204" charset="-122"/>
                <a:sym typeface="+mn-ea"/>
              </a:rPr>
              <a:t>5</a:t>
            </a:r>
            <a:r>
              <a:rPr kumimoji="0" lang="zh-CN" altLang="en-US" b="1" kern="1200" cap="none" spc="0" normalizeH="0" baseline="0" noProof="0" dirty="0">
                <a:solidFill>
                  <a:srgbClr val="FF0066"/>
                </a:solidFill>
                <a:effectLst>
                  <a:outerShdw blurRad="50800" dir="5400000" algn="tl">
                    <a:srgbClr val="000000"/>
                  </a:outerShdw>
                </a:effectLst>
                <a:latin typeface="微软雅黑" panose="020B0503020204020204" charset="-122"/>
                <a:ea typeface="微软雅黑" panose="020B0503020204020204" charset="-122"/>
                <a:cs typeface="微软雅黑" panose="020B0503020204020204" charset="-122"/>
                <a:sym typeface="+mn-ea"/>
              </a:rPr>
              <a:t>、思考题</a:t>
            </a:r>
            <a:endParaRPr kumimoji="0" lang="zh-CN" altLang="en-US" sz="2000" b="1" kern="1200" cap="none" spc="0" normalizeH="0" baseline="0" noProof="0" dirty="0">
              <a:solidFill>
                <a:srgbClr val="FF0066"/>
              </a:solidFill>
              <a:effectLst>
                <a:outerShdw blurRad="50800" dir="5400000" algn="tl">
                  <a:srgbClr val="000000"/>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14339" name="文本框 38918"/>
          <p:cNvSpPr txBox="1"/>
          <p:nvPr/>
        </p:nvSpPr>
        <p:spPr>
          <a:xfrm>
            <a:off x="683578" y="2951480"/>
            <a:ext cx="7905750" cy="1863725"/>
          </a:xfrm>
          <a:prstGeom prst="rect">
            <a:avLst/>
          </a:prstGeom>
          <a:noFill/>
          <a:ln w="9525">
            <a:noFill/>
          </a:ln>
        </p:spPr>
        <p:txBody>
          <a:bodyPr wrap="square" anchor="t" anchorCtr="0">
            <a:spAutoFit/>
          </a:bodyPr>
          <a:lstStyle/>
          <a:p>
            <a:pPr>
              <a:lnSpc>
                <a:spcPct val="120000"/>
              </a:lnSpc>
            </a:pPr>
            <a:r>
              <a:rPr lang="en-US" altLang="zh-CN" sz="2400" dirty="0">
                <a:latin typeface="微软雅黑" panose="020B0503020204020204" charset="-122"/>
                <a:ea typeface="微软雅黑" panose="020B0503020204020204" charset="-122"/>
                <a:cs typeface="微软雅黑" panose="020B0503020204020204" charset="-122"/>
                <a:sym typeface="宋体" panose="02010600030101010101" pitchFamily="2" charset="-122"/>
              </a:rPr>
              <a:t>5.1</a:t>
            </a:r>
            <a:r>
              <a:rPr lang="zh-CN" altLang="en-US" sz="2400" dirty="0">
                <a:latin typeface="微软雅黑" panose="020B0503020204020204" charset="-122"/>
                <a:ea typeface="微软雅黑" panose="020B0503020204020204" charset="-122"/>
                <a:cs typeface="微软雅黑" panose="020B0503020204020204" charset="-122"/>
                <a:sym typeface="宋体" panose="02010600030101010101" pitchFamily="2" charset="-122"/>
              </a:rPr>
              <a:t>、</a:t>
            </a:r>
            <a:r>
              <a:rPr lang="zh-CN" altLang="zh-CN" sz="2400" dirty="0">
                <a:latin typeface="微软雅黑" panose="020B0503020204020204" charset="-122"/>
                <a:ea typeface="微软雅黑" panose="020B0503020204020204" charset="-122"/>
                <a:cs typeface="微软雅黑" panose="020B0503020204020204" charset="-122"/>
                <a:sym typeface="+mn-ea"/>
              </a:rPr>
              <a:t>图像的打开时，对打开图片的类型有什么要求？</a:t>
            </a:r>
            <a:endParaRPr lang="zh-CN" altLang="zh-CN" sz="2400" dirty="0">
              <a:latin typeface="微软雅黑" panose="020B0503020204020204" charset="-122"/>
              <a:ea typeface="微软雅黑" panose="020B0503020204020204" charset="-122"/>
              <a:cs typeface="微软雅黑" panose="020B0503020204020204" charset="-122"/>
              <a:sym typeface="+mn-ea"/>
            </a:endParaRPr>
          </a:p>
          <a:p>
            <a:pPr>
              <a:lnSpc>
                <a:spcPct val="120000"/>
              </a:lnSpc>
            </a:pPr>
            <a:endParaRPr lang="zh-CN" altLang="zh-CN" sz="2400" dirty="0">
              <a:latin typeface="微软雅黑" panose="020B0503020204020204" charset="-122"/>
              <a:ea typeface="微软雅黑" panose="020B0503020204020204" charset="-122"/>
              <a:cs typeface="微软雅黑" panose="020B0503020204020204" charset="-122"/>
            </a:endParaRPr>
          </a:p>
          <a:p>
            <a:pPr>
              <a:lnSpc>
                <a:spcPct val="120000"/>
              </a:lnSpc>
            </a:pPr>
            <a:r>
              <a:rPr lang="en-US" altLang="zh-CN" sz="2400" dirty="0">
                <a:latin typeface="微软雅黑" panose="020B0503020204020204" charset="-122"/>
                <a:ea typeface="微软雅黑" panose="020B0503020204020204" charset="-122"/>
                <a:cs typeface="微软雅黑" panose="020B0503020204020204" charset="-122"/>
              </a:rPr>
              <a:t>5.2</a:t>
            </a:r>
            <a:r>
              <a:rPr lang="zh-CN" altLang="en-US" sz="2400" dirty="0">
                <a:latin typeface="微软雅黑" panose="020B0503020204020204" charset="-122"/>
                <a:ea typeface="微软雅黑" panose="020B0503020204020204" charset="-122"/>
                <a:cs typeface="微软雅黑" panose="020B0503020204020204" charset="-122"/>
              </a:rPr>
              <a:t>、</a:t>
            </a:r>
            <a:r>
              <a:rPr lang="zh-CN" altLang="zh-CN" sz="2400" dirty="0">
                <a:latin typeface="微软雅黑" panose="020B0503020204020204" charset="-122"/>
                <a:ea typeface="微软雅黑" panose="020B0503020204020204" charset="-122"/>
                <a:cs typeface="微软雅黑" panose="020B0503020204020204" charset="-122"/>
                <a:sym typeface="+mn-ea"/>
              </a:rPr>
              <a:t>图像作直方图统计时，对同一灰度级的像素点如何统计？ </a:t>
            </a:r>
            <a:endParaRPr lang="zh-CN" altLang="zh-CN" sz="2400" dirty="0">
              <a:latin typeface="微软雅黑" panose="020B0503020204020204" charset="-122"/>
              <a:ea typeface="微软雅黑" panose="020B0503020204020204" charset="-122"/>
              <a:cs typeface="微软雅黑" panose="020B0503020204020204" charset="-122"/>
              <a:sym typeface="+mn-ea"/>
            </a:endParaRPr>
          </a:p>
        </p:txBody>
      </p:sp>
      <p:sp>
        <p:nvSpPr>
          <p:cNvPr id="33795" name="矩形 33794"/>
          <p:cNvSpPr/>
          <p:nvPr/>
        </p:nvSpPr>
        <p:spPr>
          <a:xfrm>
            <a:off x="570230" y="476885"/>
            <a:ext cx="8284845" cy="609600"/>
          </a:xfrm>
          <a:prstGeom prst="rect">
            <a:avLst/>
          </a:prstGeom>
          <a:noFill/>
          <a:ln w="12700">
            <a:noFill/>
          </a:ln>
          <a:effectLst>
            <a:outerShdw blurRad="50800" dist="38100" dir="2700000" algn="tl" rotWithShape="0">
              <a:prstClr val="black">
                <a:alpha val="40000"/>
              </a:prstClr>
            </a:outerShdw>
          </a:effectLst>
        </p:spPr>
        <p:txBody>
          <a:bodyPr/>
          <a:lstStyle/>
          <a:p>
            <a:pPr marL="457200" marR="0" lvl="0" indent="-457200" algn="l" defTabSz="914400" rtl="0" eaLnBrk="1" fontAlgn="base" latinLnBrk="0" hangingPunct="1">
              <a:lnSpc>
                <a:spcPct val="120000"/>
              </a:lnSpc>
              <a:spcBef>
                <a:spcPct val="20000"/>
              </a:spcBef>
              <a:spcAft>
                <a:spcPct val="0"/>
              </a:spcAft>
              <a:buClr>
                <a:schemeClr val="tx2"/>
              </a:buClr>
              <a:buSzPct val="90000"/>
              <a:buFont typeface="Symbol" panose="05050102010706020507" pitchFamily="18" charset="2"/>
              <a:buNone/>
              <a:defRPr/>
            </a:pPr>
            <a:r>
              <a:rPr kumimoji="0" lang="zh-CN" b="1" i="0" u="none" strike="noStrike" kern="1200" cap="none" spc="0" normalizeH="0" baseline="0" noProof="1">
                <a:ln>
                  <a:noFill/>
                </a:ln>
                <a:solidFill>
                  <a:srgbClr val="002060"/>
                </a:solidFill>
                <a:effectLst/>
                <a:uLnTx/>
                <a:uFillTx/>
                <a:latin typeface="微软雅黑" panose="020B0503020204020204" charset="-122"/>
                <a:ea typeface="微软雅黑" panose="020B0503020204020204" charset="-122"/>
                <a:cs typeface="微软雅黑" panose="020B0503020204020204" charset="-122"/>
              </a:rPr>
              <a:t>实验一</a:t>
            </a:r>
            <a:r>
              <a:rPr kumimoji="0" lang="en-US" altLang="zh-CN" b="1" i="0" u="none" strike="noStrike" kern="1200" cap="none" spc="0" normalizeH="0" baseline="0" noProof="1">
                <a:ln>
                  <a:noFill/>
                </a:ln>
                <a:solidFill>
                  <a:srgbClr val="002060"/>
                </a:solidFill>
                <a:effectLst/>
                <a:uLnTx/>
                <a:uFillTx/>
                <a:latin typeface="微软雅黑" panose="020B0503020204020204" charset="-122"/>
                <a:ea typeface="微软雅黑" panose="020B0503020204020204" charset="-122"/>
                <a:cs typeface="微软雅黑" panose="020B0503020204020204" charset="-122"/>
              </a:rPr>
              <a:t> </a:t>
            </a:r>
            <a:r>
              <a:rPr kumimoji="0" lang="zh-CN" b="1" i="0" u="none" strike="noStrike" kern="1200" cap="none" spc="0" normalizeH="0" baseline="0" noProof="1">
                <a:ln>
                  <a:noFill/>
                </a:ln>
                <a:solidFill>
                  <a:srgbClr val="002060"/>
                </a:solidFill>
                <a:effectLst/>
                <a:uLnTx/>
                <a:uFillTx/>
                <a:latin typeface="微软雅黑" panose="020B0503020204020204" charset="-122"/>
                <a:ea typeface="微软雅黑" panose="020B0503020204020204" charset="-122"/>
                <a:cs typeface="微软雅黑" panose="020B0503020204020204" charset="-122"/>
              </a:rPr>
              <a:t>数字图像的输入、输出、显示、直方图统计</a:t>
            </a:r>
            <a:endParaRPr kumimoji="0" lang="zh-CN" b="1" i="0" u="none" strike="noStrike" kern="1200" cap="none" spc="0" normalizeH="0" baseline="0" noProof="1">
              <a:ln>
                <a:noFill/>
              </a:ln>
              <a:solidFill>
                <a:srgbClr val="002060"/>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 name="文本框 6151"/>
          <p:cNvSpPr txBox="1"/>
          <p:nvPr/>
        </p:nvSpPr>
        <p:spPr>
          <a:xfrm>
            <a:off x="1692275" y="6309360"/>
            <a:ext cx="5759450" cy="337185"/>
          </a:xfrm>
          <a:prstGeom prst="rect">
            <a:avLst/>
          </a:prstGeom>
          <a:noFill/>
          <a:ln w="9525">
            <a:noFill/>
          </a:ln>
        </p:spPr>
        <p:txBody>
          <a:bodyPr anchor="t" anchorCtr="0">
            <a:spAutoFit/>
          </a:bodyPr>
          <a:p>
            <a:pPr algn="ctr">
              <a:spcBef>
                <a:spcPct val="50000"/>
              </a:spcBef>
            </a:pPr>
            <a:r>
              <a:rPr lang="zh-CN" altLang="en-US" sz="1600" dirty="0">
                <a:solidFill>
                  <a:srgbClr val="6E859D"/>
                </a:solidFill>
                <a:latin typeface="华文楷体" panose="02010600040101010101" pitchFamily="2" charset="-122"/>
                <a:ea typeface="华文楷体" panose="02010600040101010101" pitchFamily="2" charset="-122"/>
              </a:rPr>
              <a:t>《数字图像处理》实验</a:t>
            </a:r>
            <a:r>
              <a:rPr lang="en-US" altLang="zh-CN" sz="1600" dirty="0">
                <a:solidFill>
                  <a:srgbClr val="6E859D"/>
                </a:solidFill>
                <a:latin typeface="华文楷体" panose="02010600040101010101" pitchFamily="2" charset="-122"/>
                <a:ea typeface="华文楷体" panose="02010600040101010101" pitchFamily="2" charset="-122"/>
              </a:rPr>
              <a:t>- </a:t>
            </a:r>
            <a:r>
              <a:rPr lang="zh-CN" altLang="en-US" sz="1600" dirty="0">
                <a:solidFill>
                  <a:srgbClr val="6E859D"/>
                </a:solidFill>
                <a:latin typeface="华文楷体" panose="02010600040101010101" pitchFamily="2" charset="-122"/>
                <a:ea typeface="华文楷体" panose="02010600040101010101" pitchFamily="2" charset="-122"/>
              </a:rPr>
              <a:t>电子信息与电气工程学院</a:t>
            </a:r>
            <a:endParaRPr lang="zh-CN" altLang="en-US" sz="1600" dirty="0">
              <a:solidFill>
                <a:srgbClr val="6E859D"/>
              </a:solidFill>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Effect transition="in" filter="blinds(horizontal)">
                                      <p:cBhvr>
                                        <p:cTn id="7" dur="500"/>
                                        <p:tgtEl>
                                          <p:spTgt spid="143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4339">
                                            <p:txEl>
                                              <p:pRg st="2" end="2"/>
                                            </p:txEl>
                                          </p:spTgt>
                                        </p:tgtEl>
                                        <p:attrNameLst>
                                          <p:attrName>style.visibility</p:attrName>
                                        </p:attrNameLst>
                                      </p:cBhvr>
                                      <p:to>
                                        <p:strVal val="visible"/>
                                      </p:to>
                                    </p:set>
                                    <p:animEffect transition="in" filter="blinds(horizontal)">
                                      <p:cBhvr>
                                        <p:cTn id="12" dur="500"/>
                                        <p:tgtEl>
                                          <p:spTgt spid="1433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38918"/>
          <p:cNvSpPr txBox="1"/>
          <p:nvPr/>
        </p:nvSpPr>
        <p:spPr>
          <a:xfrm>
            <a:off x="611505" y="1844358"/>
            <a:ext cx="7905750" cy="3192780"/>
          </a:xfrm>
          <a:prstGeom prst="rect">
            <a:avLst/>
          </a:prstGeom>
          <a:noFill/>
          <a:ln w="9525">
            <a:noFill/>
          </a:ln>
        </p:spPr>
        <p:txBody>
          <a:bodyPr wrap="square" anchor="t" anchorCtr="0">
            <a:spAutoFit/>
          </a:bodyPr>
          <a:lstStyle/>
          <a:p>
            <a:pPr>
              <a:lnSpc>
                <a:spcPct val="120000"/>
              </a:lnSpc>
            </a:pPr>
            <a:r>
              <a:rPr lang="en-US" altLang="zh-CN" sz="2400" dirty="0">
                <a:latin typeface="微软雅黑" panose="020B0503020204020204" charset="-122"/>
                <a:ea typeface="微软雅黑" panose="020B0503020204020204" charset="-122"/>
                <a:sym typeface="宋体" panose="02010600030101010101" pitchFamily="2" charset="-122"/>
              </a:rPr>
              <a:t>A=imread('×××.***')；%</a:t>
            </a:r>
            <a:r>
              <a:rPr lang="zh-CN" altLang="en-US" sz="2400" dirty="0">
                <a:latin typeface="微软雅黑" panose="020B0503020204020204" charset="-122"/>
                <a:ea typeface="微软雅黑" panose="020B0503020204020204" charset="-122"/>
                <a:sym typeface="宋体" panose="02010600030101010101" pitchFamily="2" charset="-122"/>
              </a:rPr>
              <a:t>读取</a:t>
            </a:r>
            <a:r>
              <a:rPr lang="en-US" altLang="zh-CN" sz="2400" dirty="0">
                <a:latin typeface="微软雅黑" panose="020B0503020204020204" charset="-122"/>
                <a:ea typeface="微软雅黑" panose="020B0503020204020204" charset="-122"/>
                <a:sym typeface="宋体" panose="02010600030101010101" pitchFamily="2" charset="-122"/>
              </a:rPr>
              <a:t>***</a:t>
            </a:r>
            <a:r>
              <a:rPr lang="zh-CN" altLang="en-US" sz="2400" dirty="0">
                <a:latin typeface="微软雅黑" panose="020B0503020204020204" charset="-122"/>
                <a:ea typeface="微软雅黑" panose="020B0503020204020204" charset="-122"/>
                <a:sym typeface="宋体" panose="02010600030101010101" pitchFamily="2" charset="-122"/>
              </a:rPr>
              <a:t>格式的图像文件</a:t>
            </a:r>
            <a:endParaRPr lang="zh-CN" altLang="en-US" sz="2400" dirty="0">
              <a:latin typeface="微软雅黑" panose="020B0503020204020204" charset="-122"/>
              <a:ea typeface="微软雅黑" panose="020B0503020204020204" charset="-122"/>
              <a:sym typeface="宋体" panose="02010600030101010101" pitchFamily="2" charset="-122"/>
            </a:endParaRPr>
          </a:p>
          <a:p>
            <a:pPr>
              <a:lnSpc>
                <a:spcPct val="120000"/>
              </a:lnSpc>
            </a:pPr>
            <a:r>
              <a:rPr lang="en-US" altLang="zh-CN" sz="2400" dirty="0">
                <a:latin typeface="微软雅黑" panose="020B0503020204020204" charset="-122"/>
                <a:ea typeface="微软雅黑" panose="020B0503020204020204" charset="-122"/>
                <a:sym typeface="宋体" panose="02010600030101010101" pitchFamily="2" charset="-122"/>
              </a:rPr>
              <a:t>B=im2gray(A);</a:t>
            </a:r>
            <a:r>
              <a:rPr lang="en-US" altLang="zh-CN" sz="2400" dirty="0">
                <a:latin typeface="微软雅黑" panose="020B0503020204020204" charset="-122"/>
                <a:ea typeface="微软雅黑" panose="020B0503020204020204" charset="-122"/>
                <a:sym typeface="宋体" panose="02010600030101010101" pitchFamily="2" charset="-122"/>
              </a:rPr>
              <a:t>%</a:t>
            </a:r>
            <a:r>
              <a:rPr lang="zh-CN" sz="2400" dirty="0">
                <a:latin typeface="微软雅黑" panose="020B0503020204020204" charset="-122"/>
                <a:ea typeface="微软雅黑" panose="020B0503020204020204" charset="-122"/>
                <a:sym typeface="宋体" panose="02010600030101010101" pitchFamily="2" charset="-122"/>
              </a:rPr>
              <a:t>将彩色图像转换为灰度图像</a:t>
            </a:r>
            <a:endParaRPr lang="zh-CN" sz="2400" dirty="0">
              <a:latin typeface="微软雅黑" panose="020B0503020204020204" charset="-122"/>
              <a:ea typeface="微软雅黑" panose="020B0503020204020204" charset="-122"/>
              <a:sym typeface="宋体" panose="02010600030101010101" pitchFamily="2" charset="-122"/>
            </a:endParaRPr>
          </a:p>
          <a:p>
            <a:pPr>
              <a:lnSpc>
                <a:spcPct val="120000"/>
              </a:lnSpc>
            </a:pPr>
            <a:r>
              <a:rPr lang="en-US" altLang="zh-CN" sz="2400" dirty="0">
                <a:latin typeface="微软雅黑" panose="020B0503020204020204" charset="-122"/>
                <a:ea typeface="微软雅黑" panose="020B0503020204020204" charset="-122"/>
                <a:sym typeface="宋体" panose="02010600030101010101" pitchFamily="2" charset="-122"/>
              </a:rPr>
              <a:t>C = imcrop(B, [xmin ymin width heigth]);%</a:t>
            </a:r>
            <a:r>
              <a:rPr lang="zh-CN" altLang="en-US" sz="2400" dirty="0">
                <a:latin typeface="微软雅黑" panose="020B0503020204020204" charset="-122"/>
                <a:ea typeface="微软雅黑" panose="020B0503020204020204" charset="-122"/>
                <a:sym typeface="宋体" panose="02010600030101010101" pitchFamily="2" charset="-122"/>
              </a:rPr>
              <a:t>裁切图像</a:t>
            </a:r>
            <a:r>
              <a:rPr lang="en-US" altLang="zh-CN" sz="2400" dirty="0">
                <a:latin typeface="微软雅黑" panose="020B0503020204020204" charset="-122"/>
                <a:ea typeface="微软雅黑" panose="020B0503020204020204" charset="-122"/>
                <a:sym typeface="宋体" panose="02010600030101010101" pitchFamily="2" charset="-122"/>
              </a:rPr>
              <a:t>B</a:t>
            </a:r>
            <a:endParaRPr lang="en-US" altLang="zh-CN" sz="2400" dirty="0">
              <a:latin typeface="微软雅黑" panose="020B0503020204020204" charset="-122"/>
              <a:ea typeface="微软雅黑" panose="020B0503020204020204" charset="-122"/>
              <a:sym typeface="宋体" panose="02010600030101010101" pitchFamily="2" charset="-122"/>
            </a:endParaRPr>
          </a:p>
          <a:p>
            <a:pPr>
              <a:lnSpc>
                <a:spcPct val="120000"/>
              </a:lnSpc>
            </a:pPr>
            <a:r>
              <a:rPr lang="en-US" altLang="zh-CN" sz="2400" dirty="0">
                <a:latin typeface="微软雅黑" panose="020B0503020204020204" charset="-122"/>
                <a:ea typeface="微软雅黑" panose="020B0503020204020204" charset="-122"/>
                <a:sym typeface="宋体" panose="02010600030101010101" pitchFamily="2" charset="-122"/>
              </a:rPr>
              <a:t>imshow(A);%</a:t>
            </a:r>
            <a:r>
              <a:rPr lang="zh-CN" sz="2400" dirty="0">
                <a:latin typeface="微软雅黑" panose="020B0503020204020204" charset="-122"/>
                <a:ea typeface="微软雅黑" panose="020B0503020204020204" charset="-122"/>
                <a:sym typeface="宋体" panose="02010600030101010101" pitchFamily="2" charset="-122"/>
              </a:rPr>
              <a:t>显示读取的图像数据</a:t>
            </a:r>
            <a:r>
              <a:rPr lang="en-US" altLang="zh-CN" sz="2400" dirty="0">
                <a:latin typeface="微软雅黑" panose="020B0503020204020204" charset="-122"/>
                <a:ea typeface="微软雅黑" panose="020B0503020204020204" charset="-122"/>
                <a:sym typeface="宋体" panose="02010600030101010101" pitchFamily="2" charset="-122"/>
              </a:rPr>
              <a:t>A</a:t>
            </a:r>
            <a:endParaRPr lang="en-US" altLang="zh-CN" sz="2400" dirty="0">
              <a:latin typeface="微软雅黑" panose="020B0503020204020204" charset="-122"/>
              <a:ea typeface="微软雅黑" panose="020B0503020204020204" charset="-122"/>
              <a:sym typeface="宋体" panose="02010600030101010101" pitchFamily="2" charset="-122"/>
            </a:endParaRPr>
          </a:p>
          <a:p>
            <a:pPr>
              <a:lnSpc>
                <a:spcPct val="120000"/>
              </a:lnSpc>
            </a:pPr>
            <a:r>
              <a:rPr lang="en-US" altLang="zh-CN" sz="2400" dirty="0">
                <a:latin typeface="微软雅黑" panose="020B0503020204020204" charset="-122"/>
                <a:ea typeface="微软雅黑" panose="020B0503020204020204" charset="-122"/>
                <a:sym typeface="宋体" panose="02010600030101010101" pitchFamily="2" charset="-122"/>
              </a:rPr>
              <a:t>imwrite(A,filename)%</a:t>
            </a:r>
            <a:r>
              <a:rPr lang="zh-CN" altLang="en-US" sz="2400" dirty="0">
                <a:latin typeface="微软雅黑" panose="020B0503020204020204" charset="-122"/>
                <a:ea typeface="微软雅黑" panose="020B0503020204020204" charset="-122"/>
                <a:sym typeface="宋体" panose="02010600030101010101" pitchFamily="2" charset="-122"/>
              </a:rPr>
              <a:t>将数据存储为图像</a:t>
            </a:r>
            <a:endParaRPr lang="zh-CN" altLang="en-US" sz="2400" dirty="0">
              <a:latin typeface="微软雅黑" panose="020B0503020204020204" charset="-122"/>
              <a:ea typeface="微软雅黑" panose="020B0503020204020204" charset="-122"/>
              <a:sym typeface="宋体" panose="02010600030101010101" pitchFamily="2" charset="-122"/>
            </a:endParaRPr>
          </a:p>
          <a:p>
            <a:pPr>
              <a:lnSpc>
                <a:spcPct val="120000"/>
              </a:lnSpc>
            </a:pPr>
            <a:r>
              <a:rPr lang="en-US" altLang="zh-CN" sz="2400" dirty="0">
                <a:latin typeface="微软雅黑" panose="020B0503020204020204" charset="-122"/>
                <a:ea typeface="微软雅黑" panose="020B0503020204020204" charset="-122"/>
                <a:sym typeface="宋体" panose="02010600030101010101" pitchFamily="2" charset="-122"/>
              </a:rPr>
              <a:t>imhist(A) ;%</a:t>
            </a:r>
            <a:r>
              <a:rPr lang="zh-CN" altLang="en-US" sz="2400" dirty="0">
                <a:latin typeface="微软雅黑" panose="020B0503020204020204" charset="-122"/>
                <a:ea typeface="微软雅黑" panose="020B0503020204020204" charset="-122"/>
                <a:sym typeface="宋体" panose="02010600030101010101" pitchFamily="2" charset="-122"/>
              </a:rPr>
              <a:t>显示数据</a:t>
            </a:r>
            <a:r>
              <a:rPr lang="en-US" altLang="zh-CN" sz="2400" dirty="0">
                <a:latin typeface="微软雅黑" panose="020B0503020204020204" charset="-122"/>
                <a:ea typeface="微软雅黑" panose="020B0503020204020204" charset="-122"/>
                <a:sym typeface="宋体" panose="02010600030101010101" pitchFamily="2" charset="-122"/>
              </a:rPr>
              <a:t>A</a:t>
            </a:r>
            <a:r>
              <a:rPr lang="zh-CN" altLang="en-US" sz="2400" dirty="0">
                <a:latin typeface="微软雅黑" panose="020B0503020204020204" charset="-122"/>
                <a:ea typeface="微软雅黑" panose="020B0503020204020204" charset="-122"/>
                <a:sym typeface="宋体" panose="02010600030101010101" pitchFamily="2" charset="-122"/>
              </a:rPr>
              <a:t>的直方图</a:t>
            </a:r>
            <a:endParaRPr lang="zh-CN" altLang="en-US" sz="2400" dirty="0">
              <a:latin typeface="微软雅黑" panose="020B0503020204020204" charset="-122"/>
              <a:ea typeface="微软雅黑" panose="020B0503020204020204" charset="-122"/>
              <a:sym typeface="宋体" panose="02010600030101010101" pitchFamily="2" charset="-122"/>
            </a:endParaRPr>
          </a:p>
          <a:p>
            <a:pPr>
              <a:lnSpc>
                <a:spcPct val="120000"/>
              </a:lnSpc>
            </a:pPr>
            <a:r>
              <a:rPr lang="en-US" sz="2400">
                <a:ea typeface="微软雅黑" panose="020B0503020204020204" charset="-122"/>
                <a:sym typeface="+mn-ea"/>
              </a:rPr>
              <a:t>a=</a:t>
            </a:r>
            <a:r>
              <a:rPr altLang="zh-CN" sz="2400">
                <a:ea typeface="微软雅黑" panose="020B0503020204020204" charset="-122"/>
                <a:sym typeface="+mn-ea"/>
              </a:rPr>
              <a:t>im2bw</a:t>
            </a:r>
            <a:r>
              <a:rPr lang="en-US" sz="2400">
                <a:ea typeface="微软雅黑" panose="020B0503020204020204" charset="-122"/>
                <a:sym typeface="+mn-ea"/>
              </a:rPr>
              <a:t>(A);</a:t>
            </a:r>
            <a:r>
              <a:rPr lang="en-US" altLang="zh-CN" sz="2400" dirty="0">
                <a:latin typeface="微软雅黑" panose="020B0503020204020204" charset="-122"/>
                <a:ea typeface="微软雅黑" panose="020B0503020204020204" charset="-122"/>
                <a:sym typeface="宋体" panose="02010600030101010101" pitchFamily="2" charset="-122"/>
              </a:rPr>
              <a:t>%</a:t>
            </a:r>
            <a:r>
              <a:rPr lang="zh-CN" sz="2400" dirty="0">
                <a:latin typeface="微软雅黑" panose="020B0503020204020204" charset="-122"/>
                <a:ea typeface="微软雅黑" panose="020B0503020204020204" charset="-122"/>
                <a:sym typeface="宋体" panose="02010600030101010101" pitchFamily="2" charset="-122"/>
              </a:rPr>
              <a:t>将图像转换为二值图像</a:t>
            </a:r>
            <a:endParaRPr lang="zh-CN" sz="2400" dirty="0">
              <a:latin typeface="微软雅黑" panose="020B0503020204020204" charset="-122"/>
              <a:ea typeface="微软雅黑" panose="020B0503020204020204" charset="-122"/>
              <a:sym typeface="+mn-ea"/>
            </a:endParaRPr>
          </a:p>
        </p:txBody>
      </p:sp>
      <p:sp>
        <p:nvSpPr>
          <p:cNvPr id="33795" name="矩形 33794"/>
          <p:cNvSpPr/>
          <p:nvPr/>
        </p:nvSpPr>
        <p:spPr>
          <a:xfrm>
            <a:off x="611505" y="405130"/>
            <a:ext cx="6937375" cy="609600"/>
          </a:xfrm>
          <a:prstGeom prst="rect">
            <a:avLst/>
          </a:prstGeom>
          <a:noFill/>
          <a:ln w="12700">
            <a:noFill/>
          </a:ln>
          <a:effectLst>
            <a:outerShdw blurRad="50800" dist="38100" dir="2700000" algn="tl" rotWithShape="0">
              <a:prstClr val="black">
                <a:alpha val="40000"/>
              </a:prstClr>
            </a:outerShdw>
          </a:effectLst>
        </p:spPr>
        <p:txBody>
          <a:bodyPr/>
          <a:lstStyle/>
          <a:p>
            <a:pPr marL="457200" marR="0" lvl="0" indent="-457200" algn="l" defTabSz="914400" rtl="0" eaLnBrk="1" fontAlgn="base" latinLnBrk="0" hangingPunct="1">
              <a:lnSpc>
                <a:spcPct val="120000"/>
              </a:lnSpc>
              <a:spcBef>
                <a:spcPct val="20000"/>
              </a:spcBef>
              <a:spcAft>
                <a:spcPct val="0"/>
              </a:spcAft>
              <a:buClr>
                <a:schemeClr val="tx2"/>
              </a:buClr>
              <a:buSzPct val="90000"/>
              <a:buFont typeface="Symbol" panose="05050102010706020507" pitchFamily="18" charset="2"/>
              <a:buNone/>
              <a:defRPr/>
            </a:pPr>
            <a:r>
              <a:rPr kumimoji="0" lang="zh-CN" sz="3200" b="1" i="0" u="none" strike="noStrike" kern="1200" cap="none" spc="0" normalizeH="0" baseline="0" noProof="1">
                <a:ln>
                  <a:noFill/>
                </a:ln>
                <a:solidFill>
                  <a:srgbClr val="002060"/>
                </a:solidFill>
                <a:effectLst/>
                <a:uLnTx/>
                <a:uFillTx/>
                <a:latin typeface="微软雅黑" panose="020B0503020204020204" charset="-122"/>
                <a:ea typeface="微软雅黑" panose="020B0503020204020204" charset="-122"/>
                <a:cs typeface="微软雅黑" panose="020B0503020204020204" charset="-122"/>
              </a:rPr>
              <a:t>附录</a:t>
            </a:r>
            <a:r>
              <a:rPr kumimoji="0" lang="en-US" altLang="zh-CN" sz="3200" b="1" i="0" u="none" strike="noStrike" kern="1200" cap="none" spc="0" normalizeH="0" baseline="0" noProof="1">
                <a:ln>
                  <a:noFill/>
                </a:ln>
                <a:solidFill>
                  <a:srgbClr val="002060"/>
                </a:solidFill>
                <a:effectLst/>
                <a:uLnTx/>
                <a:uFillTx/>
                <a:latin typeface="微软雅黑" panose="020B0503020204020204" charset="-122"/>
                <a:ea typeface="微软雅黑" panose="020B0503020204020204" charset="-122"/>
                <a:cs typeface="微软雅黑" panose="020B0503020204020204" charset="-122"/>
              </a:rPr>
              <a:t> </a:t>
            </a:r>
            <a:r>
              <a:rPr kumimoji="0" lang="zh-CN" altLang="en-US" sz="3200" b="1" i="0" u="none" strike="noStrike" kern="1200" cap="none" spc="0" normalizeH="0" baseline="0" noProof="1">
                <a:ln>
                  <a:noFill/>
                </a:ln>
                <a:solidFill>
                  <a:srgbClr val="002060"/>
                </a:solidFill>
                <a:effectLst/>
                <a:uLnTx/>
                <a:uFillTx/>
                <a:latin typeface="微软雅黑" panose="020B0503020204020204" charset="-122"/>
                <a:ea typeface="微软雅黑" panose="020B0503020204020204" charset="-122"/>
                <a:cs typeface="微软雅黑" panose="020B0503020204020204" charset="-122"/>
              </a:rPr>
              <a:t>数字图像处理</a:t>
            </a:r>
            <a:r>
              <a:rPr kumimoji="0" lang="zh-CN" sz="3200" b="1" i="0" u="none" strike="noStrike" kern="1200" cap="none" spc="0" normalizeH="0" baseline="0" noProof="1">
                <a:ln>
                  <a:noFill/>
                </a:ln>
                <a:solidFill>
                  <a:srgbClr val="002060"/>
                </a:solidFill>
                <a:effectLst/>
                <a:uLnTx/>
                <a:uFillTx/>
                <a:latin typeface="微软雅黑" panose="020B0503020204020204" charset="-122"/>
                <a:ea typeface="微软雅黑" panose="020B0503020204020204" charset="-122"/>
                <a:cs typeface="微软雅黑" panose="020B0503020204020204" charset="-122"/>
              </a:rPr>
              <a:t>常用</a:t>
            </a:r>
            <a:r>
              <a:rPr kumimoji="0" lang="en-US" altLang="zh-CN" sz="3200" b="1" i="0" u="none" strike="noStrike" kern="1200" cap="none" spc="0" normalizeH="0" baseline="0" noProof="1">
                <a:ln>
                  <a:noFill/>
                </a:ln>
                <a:solidFill>
                  <a:srgbClr val="002060"/>
                </a:solidFill>
                <a:effectLst/>
                <a:uLnTx/>
                <a:uFillTx/>
                <a:latin typeface="微软雅黑" panose="020B0503020204020204" charset="-122"/>
                <a:ea typeface="微软雅黑" panose="020B0503020204020204" charset="-122"/>
                <a:cs typeface="微软雅黑" panose="020B0503020204020204" charset="-122"/>
              </a:rPr>
              <a:t>matlab</a:t>
            </a:r>
            <a:r>
              <a:rPr kumimoji="0" lang="zh-CN" altLang="en-US" sz="3200" b="1" i="0" u="none" strike="noStrike" kern="1200" cap="none" spc="0" normalizeH="0" baseline="0" noProof="1">
                <a:ln>
                  <a:noFill/>
                </a:ln>
                <a:solidFill>
                  <a:srgbClr val="002060"/>
                </a:solidFill>
                <a:effectLst/>
                <a:uLnTx/>
                <a:uFillTx/>
                <a:latin typeface="微软雅黑" panose="020B0503020204020204" charset="-122"/>
                <a:ea typeface="微软雅黑" panose="020B0503020204020204" charset="-122"/>
                <a:cs typeface="微软雅黑" panose="020B0503020204020204" charset="-122"/>
              </a:rPr>
              <a:t>函数</a:t>
            </a:r>
            <a:endParaRPr kumimoji="0" lang="zh-CN" altLang="en-US" sz="3200" b="1" i="0" u="none" strike="noStrike" kern="1200" cap="none" spc="0" normalizeH="0" baseline="0" noProof="1">
              <a:ln>
                <a:noFill/>
              </a:ln>
              <a:solidFill>
                <a:srgbClr val="002060"/>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 name="文本框 6151"/>
          <p:cNvSpPr txBox="1"/>
          <p:nvPr/>
        </p:nvSpPr>
        <p:spPr>
          <a:xfrm>
            <a:off x="1692275" y="6309360"/>
            <a:ext cx="5759450" cy="337185"/>
          </a:xfrm>
          <a:prstGeom prst="rect">
            <a:avLst/>
          </a:prstGeom>
          <a:noFill/>
          <a:ln w="9525">
            <a:noFill/>
          </a:ln>
        </p:spPr>
        <p:txBody>
          <a:bodyPr anchor="t" anchorCtr="0">
            <a:spAutoFit/>
          </a:bodyPr>
          <a:p>
            <a:pPr algn="ctr">
              <a:spcBef>
                <a:spcPct val="50000"/>
              </a:spcBef>
            </a:pPr>
            <a:r>
              <a:rPr lang="zh-CN" altLang="en-US" sz="1600" dirty="0">
                <a:solidFill>
                  <a:srgbClr val="6E859D"/>
                </a:solidFill>
                <a:latin typeface="华文楷体" panose="02010600040101010101" pitchFamily="2" charset="-122"/>
                <a:ea typeface="华文楷体" panose="02010600040101010101" pitchFamily="2" charset="-122"/>
              </a:rPr>
              <a:t>《数字图像处理》实验</a:t>
            </a:r>
            <a:r>
              <a:rPr lang="en-US" altLang="zh-CN" sz="1600" dirty="0">
                <a:solidFill>
                  <a:srgbClr val="6E859D"/>
                </a:solidFill>
                <a:latin typeface="华文楷体" panose="02010600040101010101" pitchFamily="2" charset="-122"/>
                <a:ea typeface="华文楷体" panose="02010600040101010101" pitchFamily="2" charset="-122"/>
              </a:rPr>
              <a:t>- </a:t>
            </a:r>
            <a:r>
              <a:rPr lang="zh-CN" altLang="en-US" sz="1600" dirty="0">
                <a:solidFill>
                  <a:srgbClr val="6E859D"/>
                </a:solidFill>
                <a:latin typeface="华文楷体" panose="02010600040101010101" pitchFamily="2" charset="-122"/>
                <a:ea typeface="华文楷体" panose="02010600040101010101" pitchFamily="2" charset="-122"/>
              </a:rPr>
              <a:t>电子信息与电气工程学院</a:t>
            </a:r>
            <a:endParaRPr lang="zh-CN" altLang="en-US" sz="1600" dirty="0">
              <a:solidFill>
                <a:srgbClr val="6E859D"/>
              </a:solidFill>
              <a:latin typeface="华文楷体" panose="02010600040101010101" pitchFamily="2" charset="-122"/>
              <a:ea typeface="华文楷体" panose="02010600040101010101" pitchFamily="2" charset="-122"/>
            </a:endParaRPr>
          </a:p>
        </p:txBody>
      </p:sp>
    </p:spTree>
  </p:cSld>
  <p:clrMapOvr>
    <a:masterClrMapping/>
  </p:clrMapOvr>
</p:sld>
</file>

<file path=ppt/tags/tag1.xml><?xml version="1.0" encoding="utf-8"?>
<p:tagLst xmlns:p="http://schemas.openxmlformats.org/presentationml/2006/main">
  <p:tag name="commondata" val="eyJoZGlkIjoiNzlhYjFhY2FjMDQ5ZmE0OGM4MzdmNWNkZjY0NWFkNmQifQ=="/>
</p:tagLst>
</file>

<file path=ppt/theme/theme1.xml><?xml version="1.0" encoding="utf-8"?>
<a:theme xmlns:a="http://schemas.openxmlformats.org/drawingml/2006/main" name="Profile">
  <a:themeElements>
    <a:clrScheme name="">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C"/>
      </a:accent5>
      <a:accent6>
        <a:srgbClr val="B70000"/>
      </a:accent6>
      <a:hlink>
        <a:srgbClr val="336699"/>
      </a:hlink>
      <a:folHlink>
        <a:srgbClr val="003366"/>
      </a:folHlink>
    </a:clrScheme>
    <a:fontScheme name="">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800000"/>
        </a:lt1>
        <a:dk2>
          <a:srgbClr val="FFFFFF"/>
        </a:dk2>
        <a:lt2>
          <a:srgbClr val="A50021"/>
        </a:lt2>
        <a:accent1>
          <a:srgbClr val="FF9900"/>
        </a:accent1>
        <a:accent2>
          <a:srgbClr val="FF3300"/>
        </a:accent2>
        <a:accent3>
          <a:srgbClr val="C1AAAA"/>
        </a:accent3>
        <a:accent4>
          <a:srgbClr val="DCDCDC"/>
        </a:accent4>
        <a:accent5>
          <a:srgbClr val="FFCAAA"/>
        </a:accent5>
        <a:accent6>
          <a:srgbClr val="E52D00"/>
        </a:accent6>
        <a:hlink>
          <a:srgbClr val="FFFFCC"/>
        </a:hlink>
        <a:folHlink>
          <a:srgbClr val="FFCC99"/>
        </a:folHlink>
      </a:clrScheme>
      <a:clrMap bg1="lt1" tx1="dk1" bg2="lt2" tx2="dk2" accent1="accent1" accent2="accent2" accent3="accent3" accent4="accent4" accent5="accent5" accent6="accent6" hlink="hlink" folHlink="folHlink"/>
    </a:extraClrScheme>
    <a:extraClrScheme>
      <a:clrScheme name="">
        <a:dk1>
          <a:srgbClr val="FFFFFF"/>
        </a:dk1>
        <a:lt1>
          <a:srgbClr val="51072E"/>
        </a:lt1>
        <a:dk2>
          <a:srgbClr val="FFFFFF"/>
        </a:dk2>
        <a:lt2>
          <a:srgbClr val="3C001E"/>
        </a:lt2>
        <a:accent1>
          <a:srgbClr val="89A38F"/>
        </a:accent1>
        <a:accent2>
          <a:srgbClr val="666699"/>
        </a:accent2>
        <a:accent3>
          <a:srgbClr val="B3AAAC"/>
        </a:accent3>
        <a:accent4>
          <a:srgbClr val="DCDCDC"/>
        </a:accent4>
        <a:accent5>
          <a:srgbClr val="C4CEC6"/>
        </a:accent5>
        <a:accent6>
          <a:srgbClr val="5B5B89"/>
        </a:accent6>
        <a:hlink>
          <a:srgbClr val="808000"/>
        </a:hlink>
        <a:folHlink>
          <a:srgbClr val="666633"/>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FFFFFF"/>
        </a:dk2>
        <a:lt2>
          <a:srgbClr val="333333"/>
        </a:lt2>
        <a:accent1>
          <a:srgbClr val="3399FF"/>
        </a:accent1>
        <a:accent2>
          <a:srgbClr val="CC0000"/>
        </a:accent2>
        <a:accent3>
          <a:srgbClr val="AAAAAA"/>
        </a:accent3>
        <a:accent4>
          <a:srgbClr val="DCDCDC"/>
        </a:accent4>
        <a:accent5>
          <a:srgbClr val="ADCAFF"/>
        </a:accent5>
        <a:accent6>
          <a:srgbClr val="B70000"/>
        </a:accent6>
        <a:hlink>
          <a:srgbClr val="666699"/>
        </a:hlink>
        <a:folHlink>
          <a:srgbClr val="6600CC"/>
        </a:folHlink>
      </a:clrScheme>
      <a:clrMap bg1="lt1" tx1="dk1" bg2="lt2" tx2="dk2" accent1="accent1" accent2="accent2" accent3="accent3" accent4="accent4" accent5="accent5" accent6="accent6" hlink="hlink" folHlink="folHlink"/>
    </a:extraClrScheme>
    <a:extraClrScheme>
      <a:clrScheme name="">
        <a:dk1>
          <a:srgbClr val="FFFFFF"/>
        </a:dk1>
        <a:lt1>
          <a:srgbClr val="330000"/>
        </a:lt1>
        <a:dk2>
          <a:srgbClr val="FFFFFF"/>
        </a:dk2>
        <a:lt2>
          <a:srgbClr val="4B3D1B"/>
        </a:lt2>
        <a:accent1>
          <a:srgbClr val="CC9900"/>
        </a:accent1>
        <a:accent2>
          <a:srgbClr val="CC6600"/>
        </a:accent2>
        <a:accent3>
          <a:srgbClr val="ADAAAA"/>
        </a:accent3>
        <a:accent4>
          <a:srgbClr val="DCDCDC"/>
        </a:accent4>
        <a:accent5>
          <a:srgbClr val="E2CAAA"/>
        </a:accent5>
        <a:accent6>
          <a:srgbClr val="B75B00"/>
        </a:accent6>
        <a:hlink>
          <a:srgbClr val="666699"/>
        </a:hlink>
        <a:folHlink>
          <a:srgbClr val="CCCC00"/>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FFFFFF"/>
        </a:dk2>
        <a:lt2>
          <a:srgbClr val="006666"/>
        </a:lt2>
        <a:accent1>
          <a:srgbClr val="0099CC"/>
        </a:accent1>
        <a:accent2>
          <a:srgbClr val="6666FF"/>
        </a:accent2>
        <a:accent3>
          <a:srgbClr val="AAADB9"/>
        </a:accent3>
        <a:accent4>
          <a:srgbClr val="DCDCDC"/>
        </a:accent4>
        <a:accent5>
          <a:srgbClr val="AACAE2"/>
        </a:accent5>
        <a:accent6>
          <a:srgbClr val="5B5BE5"/>
        </a:accent6>
        <a:hlink>
          <a:srgbClr val="FFFFCC"/>
        </a:hlink>
        <a:folHlink>
          <a:srgbClr val="FFCC00"/>
        </a:folHlink>
      </a:clrScheme>
      <a:clrMap bg1="lt1" tx1="dk1" bg2="lt2" tx2="dk2" accent1="accent1" accent2="accent2" accent3="accent3" accent4="accent4" accent5="accent5" accent6="accent6" hlink="hlink" folHlink="folHlink"/>
    </a:extraClrScheme>
    <a:extraClrScheme>
      <a:clrScheme name="">
        <a:dk1>
          <a:srgbClr val="FFFFFF"/>
        </a:dk1>
        <a:lt1>
          <a:srgbClr val="006666"/>
        </a:lt1>
        <a:dk2>
          <a:srgbClr val="FFFFFF"/>
        </a:dk2>
        <a:lt2>
          <a:srgbClr val="003366"/>
        </a:lt2>
        <a:accent1>
          <a:srgbClr val="6699FF"/>
        </a:accent1>
        <a:accent2>
          <a:srgbClr val="00CCFF"/>
        </a:accent2>
        <a:accent3>
          <a:srgbClr val="AAB9B9"/>
        </a:accent3>
        <a:accent4>
          <a:srgbClr val="DCDCDC"/>
        </a:accent4>
        <a:accent5>
          <a:srgbClr val="B9CAFF"/>
        </a:accent5>
        <a:accent6>
          <a:srgbClr val="00B7E5"/>
        </a:accent6>
        <a:hlink>
          <a:srgbClr val="FFFFCC"/>
        </a:hlink>
        <a:folHlink>
          <a:srgbClr val="33CCCC"/>
        </a:folHlink>
      </a:clrScheme>
      <a:clrMap bg1="lt1" tx1="dk1" bg2="lt2" tx2="dk2" accent1="accent1" accent2="accent2" accent3="accent3" accent4="accent4" accent5="accent5" accent6="accent6" hlink="hlink" folHlink="folHlink"/>
    </a:extraClrScheme>
    <a:extraClrScheme>
      <a:clrScheme name="">
        <a:dk1>
          <a:srgbClr val="000000"/>
        </a:dk1>
        <a:lt1>
          <a:srgbClr val="619CB1"/>
        </a:lt1>
        <a:dk2>
          <a:srgbClr val="FFFFFF"/>
        </a:dk2>
        <a:lt2>
          <a:srgbClr val="4E899E"/>
        </a:lt2>
        <a:accent1>
          <a:srgbClr val="FFCC00"/>
        </a:accent1>
        <a:accent2>
          <a:srgbClr val="B6523E"/>
        </a:accent2>
        <a:accent3>
          <a:srgbClr val="B7CBD4"/>
        </a:accent3>
        <a:accent4>
          <a:srgbClr val="000000"/>
        </a:accent4>
        <a:accent5>
          <a:srgbClr val="FFE2AA"/>
        </a:accent5>
        <a:accent6>
          <a:srgbClr val="A3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
        <a:dk1>
          <a:srgbClr val="FFFFFF"/>
        </a:dk1>
        <a:lt1>
          <a:srgbClr val="336600"/>
        </a:lt1>
        <a:dk2>
          <a:srgbClr val="FFFFFF"/>
        </a:dk2>
        <a:lt2>
          <a:srgbClr val="598600"/>
        </a:lt2>
        <a:accent1>
          <a:srgbClr val="33CC33"/>
        </a:accent1>
        <a:accent2>
          <a:srgbClr val="99CC00"/>
        </a:accent2>
        <a:accent3>
          <a:srgbClr val="ADB9AA"/>
        </a:accent3>
        <a:accent4>
          <a:srgbClr val="DCDCDC"/>
        </a:accent4>
        <a:accent5>
          <a:srgbClr val="ADE2AD"/>
        </a:accent5>
        <a:accent6>
          <a:srgbClr val="89B700"/>
        </a:accent6>
        <a:hlink>
          <a:srgbClr val="FFCC00"/>
        </a:hlink>
        <a:folHlink>
          <a:srgbClr val="FFFF99"/>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C"/>
        </a:accent5>
        <a:accent6>
          <a:srgbClr val="B7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Profile</Template>
  <TotalTime>0</TotalTime>
  <Words>1765</Words>
  <Application>WPS 演示</Application>
  <PresentationFormat>在屏幕上显示</PresentationFormat>
  <Paragraphs>118</Paragraphs>
  <Slides>11</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11</vt:i4>
      </vt:variant>
    </vt:vector>
  </HeadingPairs>
  <TitlesOfParts>
    <vt:vector size="23" baseType="lpstr">
      <vt:lpstr>Arial</vt:lpstr>
      <vt:lpstr>宋体</vt:lpstr>
      <vt:lpstr>Wingdings</vt:lpstr>
      <vt:lpstr>Verdana</vt:lpstr>
      <vt:lpstr>微软雅黑</vt:lpstr>
      <vt:lpstr>Tahoma</vt:lpstr>
      <vt:lpstr>华文楷体</vt:lpstr>
      <vt:lpstr>Symbol</vt:lpstr>
      <vt:lpstr>Times New Roman</vt:lpstr>
      <vt:lpstr>Arial Unicode MS</vt:lpstr>
      <vt:lpstr>Calibri</vt:lpstr>
      <vt:lpstr>Profile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微软用户</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第6章 IIR数字滤波器的设计</dc:title>
  <dc:creator>杨顺辽</dc:creator>
  <cp:lastModifiedBy>杨</cp:lastModifiedBy>
  <cp:revision>67</cp:revision>
  <dcterms:created xsi:type="dcterms:W3CDTF">2010-11-21T10:40:00Z</dcterms:created>
  <dcterms:modified xsi:type="dcterms:W3CDTF">2025-03-12T00:22:19Z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FA182B2684AD470BBCB2F0095A8702B2</vt:lpwstr>
  </property>
  <property fmtid="{D5CDD505-2E9C-101B-9397-08002B2CF9AE}" pid="3" name="KSOProductBuildVer">
    <vt:lpwstr>2052-11.8.2.11718</vt:lpwstr>
  </property>
</Properties>
</file>